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6858000" cx="12192000"/>
  <p:notesSz cx="6858000" cy="9144000"/>
  <p:embeddedFontLst>
    <p:embeddedFont>
      <p:font typeface="Tahoma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jyrAouh/nyH2bj8QnSM0q0i5jT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Tahoma-regular.fntdata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customschemas.google.com/relationships/presentationmetadata" Target="metadata"/><Relationship Id="rId12" Type="http://schemas.openxmlformats.org/officeDocument/2006/relationships/slide" Target="slides/slide8.xml"/><Relationship Id="rId34" Type="http://schemas.openxmlformats.org/officeDocument/2006/relationships/font" Target="fonts/Tahoma-bold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1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1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1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1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1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1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1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1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1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1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1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p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df850c87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adf850c87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g3adf850c87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28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8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8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" name="Google Shape;21;p128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22" name="Google Shape;22;p128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" name="Google Shape;23;p128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12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" name="Google Shape;30;p129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31" name="Google Shape;31;p129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129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1"/>
          <p:cNvSpPr txBox="1"/>
          <p:nvPr>
            <p:ph idx="1" type="body"/>
          </p:nvPr>
        </p:nvSpPr>
        <p:spPr>
          <a:xfrm>
            <a:off x="838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31"/>
          <p:cNvSpPr txBox="1"/>
          <p:nvPr>
            <p:ph idx="2" type="body"/>
          </p:nvPr>
        </p:nvSpPr>
        <p:spPr>
          <a:xfrm>
            <a:off x="6172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3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31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0" name="Google Shape;40;p131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41" name="Google Shape;41;p131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2" name="Google Shape;42;p131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3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3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3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132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2" name="Google Shape;52;p132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53" name="Google Shape;53;p132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" name="Google Shape;54;p132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13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1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6"/>
          <p:cNvSpPr txBox="1"/>
          <p:nvPr>
            <p:ph type="title"/>
          </p:nvPr>
        </p:nvSpPr>
        <p:spPr>
          <a:xfrm>
            <a:off x="839788" y="987425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3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1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CSE 4165: Web Programming</a:t>
            </a:r>
            <a:endParaRPr/>
          </a:p>
        </p:txBody>
      </p:sp>
      <p:sp>
        <p:nvSpPr>
          <p:cNvPr id="95" name="Google Shape;9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b="1" lang="en-US"/>
              <a:t>Lecture 4</a:t>
            </a:r>
            <a:endParaRPr b="1"/>
          </a:p>
        </p:txBody>
      </p:sp>
      <p:sp>
        <p:nvSpPr>
          <p:cNvPr id="96" name="Google Shape;96;p1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Saturday, September 23, 2023</a:t>
            </a:r>
            <a:endParaRPr/>
          </a:p>
        </p:txBody>
      </p:sp>
      <p:sp>
        <p:nvSpPr>
          <p:cNvPr id="97" name="Google Shape;97;p1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98" name="Google Shape;98;p1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3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800"/>
              <a:t>1. Flexbox Layout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800"/>
              <a:t>2. Grid Layout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800"/>
              <a:t>3. Form</a:t>
            </a:r>
            <a:endParaRPr sz="800"/>
          </a:p>
        </p:txBody>
      </p:sp>
      <p:sp>
        <p:nvSpPr>
          <p:cNvPr id="104" name="Google Shape;104;p13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13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Contents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We at first set a container as a flex container.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You can visualize a flex container in the following way: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11" name="Google Shape;111;p14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14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Flex</a:t>
            </a:r>
            <a:endParaRPr/>
          </a:p>
        </p:txBody>
      </p:sp>
      <p:pic>
        <p:nvPicPr>
          <p:cNvPr descr="Complete Guide to CSS Flexbox - Part I - Studytonight" id="113" name="Google Shape;113;p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8521" y="3329803"/>
            <a:ext cx="5638801" cy="2300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lete Guide to CSS Flexbox - Part I - Studytonight" id="114" name="Google Shape;114;p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7532121" y="3345213"/>
            <a:ext cx="3863060" cy="2300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Start by making a simple div.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Place 4 spans inside it with a div in the middle.</a:t>
            </a:r>
            <a:endParaRPr/>
          </a:p>
        </p:txBody>
      </p:sp>
      <p:sp>
        <p:nvSpPr>
          <p:cNvPr id="120" name="Google Shape;120;p14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14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sz="2800"/>
              <a:t>Let us make a flex container and place some flex elements inside</a:t>
            </a:r>
            <a:endParaRPr/>
          </a:p>
        </p:txBody>
      </p:sp>
      <p:pic>
        <p:nvPicPr>
          <p:cNvPr id="122" name="Google Shape;122;p1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6967" y="2824622"/>
            <a:ext cx="5633787" cy="38274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Place some colors</a:t>
            </a:r>
            <a:endParaRPr/>
          </a:p>
        </p:txBody>
      </p:sp>
      <p:sp>
        <p:nvSpPr>
          <p:cNvPr id="128" name="Google Shape;128;p14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14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sz="2800"/>
              <a:t>Let us make a flex container and place some flex elements inside</a:t>
            </a:r>
            <a:endParaRPr/>
          </a:p>
        </p:txBody>
      </p:sp>
      <p:pic>
        <p:nvPicPr>
          <p:cNvPr id="130" name="Google Shape;130;p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8762" y="2326073"/>
            <a:ext cx="9134475" cy="27527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Let us explore some flex properties (for both the container and  flex elements)</a:t>
            </a:r>
            <a:endParaRPr/>
          </a:p>
        </p:txBody>
      </p:sp>
      <p:sp>
        <p:nvSpPr>
          <p:cNvPr id="136" name="Google Shape;136;p14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14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sz="2800"/>
              <a:t>Let us make a flex container and place some flex elements inside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Flex container properties (6)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b="1" lang="en-US"/>
              <a:t>1. display</a:t>
            </a:r>
            <a:endParaRPr/>
          </a:p>
          <a:p>
            <a:pPr indent="-457200" lvl="2" marL="1600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Font typeface="Arial"/>
              <a:buChar char="•"/>
            </a:pPr>
            <a:r>
              <a:rPr b="1" lang="en-US"/>
              <a:t>flex →</a:t>
            </a:r>
            <a:r>
              <a:rPr lang="en-US"/>
              <a:t> Makes the element a block-level flex container (takes full width).</a:t>
            </a:r>
            <a:endParaRPr/>
          </a:p>
          <a:p>
            <a:pPr indent="-457200" lvl="2" marL="1600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Font typeface="Arial"/>
              <a:buChar char="•"/>
            </a:pPr>
            <a:r>
              <a:rPr b="1" lang="en-US"/>
              <a:t>inline-flex →</a:t>
            </a:r>
            <a:r>
              <a:rPr lang="en-US"/>
              <a:t> Makes it a flex container but inline (fits only its content width).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b="1" lang="en-US"/>
              <a:t>2. flex-direction</a:t>
            </a:r>
            <a:endParaRPr/>
          </a:p>
          <a:p>
            <a:pPr indent="-457200" lvl="2" marL="1600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Font typeface="Arial"/>
              <a:buChar char="•"/>
            </a:pPr>
            <a:r>
              <a:rPr lang="en-US"/>
              <a:t>row (default) → Items are placed left to right.</a:t>
            </a:r>
            <a:endParaRPr/>
          </a:p>
          <a:p>
            <a:pPr indent="-457200" lvl="2" marL="1600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Font typeface="Arial"/>
              <a:buChar char="•"/>
            </a:pPr>
            <a:r>
              <a:rPr lang="en-US"/>
              <a:t>row-reverse → Items are placed right to left.</a:t>
            </a:r>
            <a:endParaRPr/>
          </a:p>
          <a:p>
            <a:pPr indent="-457200" lvl="2" marL="1600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Font typeface="Arial"/>
              <a:buChar char="•"/>
            </a:pPr>
            <a:r>
              <a:rPr lang="en-US"/>
              <a:t>column → Items are placed top to bottom.</a:t>
            </a:r>
            <a:endParaRPr/>
          </a:p>
          <a:p>
            <a:pPr indent="-457200" lvl="2" marL="1600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Font typeface="Arial"/>
              <a:buChar char="•"/>
            </a:pPr>
            <a:r>
              <a:rPr lang="en-US"/>
              <a:t>column-reverse → Items are placed bottom to top.</a:t>
            </a:r>
            <a:endParaRPr/>
          </a:p>
          <a:p>
            <a:pPr indent="-34163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None/>
            </a:pPr>
            <a:r>
              <a:t/>
            </a:r>
            <a:endParaRPr/>
          </a:p>
          <a:p>
            <a:pPr indent="-358139" lvl="2" marL="1600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Font typeface="Arial"/>
              <a:buNone/>
            </a:pPr>
            <a:r>
              <a:t/>
            </a:r>
            <a:endParaRPr/>
          </a:p>
          <a:p>
            <a:pPr indent="-34163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3" name="Google Shape;143;p14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14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sz="2800"/>
              <a:t>Flex Container Properties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Inside a flex container, all child elements become </a:t>
            </a:r>
            <a:r>
              <a:rPr b="1" lang="en-US"/>
              <a:t>flex items/elements</a:t>
            </a:r>
            <a:r>
              <a:rPr lang="en-US"/>
              <a:t> — not block elements and not inline elements.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Flex items behave </a:t>
            </a:r>
            <a:r>
              <a:rPr b="1" lang="en-US"/>
              <a:t>similar to block elements</a:t>
            </a:r>
            <a:r>
              <a:rPr lang="en-US"/>
              <a:t> (they can have width, height, padding, etc.), but they are not true block elements.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Their size, alignment, and behavior are </a:t>
            </a:r>
            <a:r>
              <a:rPr b="1" lang="en-US"/>
              <a:t>strongly influenced by the flex container’s properties</a:t>
            </a:r>
            <a:r>
              <a:rPr lang="en-US"/>
              <a:t>, which makes them more flexible but also more dependent on the parent.</a:t>
            </a:r>
            <a:endParaRPr/>
          </a:p>
        </p:txBody>
      </p:sp>
      <p:sp>
        <p:nvSpPr>
          <p:cNvPr id="150" name="Google Shape;150;p14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14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Flex Items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Play around with the display and flex direction properties.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You will get several orientations, including this</a:t>
            </a:r>
            <a:endParaRPr/>
          </a:p>
          <a:p>
            <a:pPr indent="-3048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7" name="Google Shape;157;p14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p14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sz="4000"/>
              <a:t>Flex Container Properties </a:t>
            </a:r>
            <a:endParaRPr/>
          </a:p>
        </p:txBody>
      </p:sp>
      <p:pic>
        <p:nvPicPr>
          <p:cNvPr id="159" name="Google Shape;159;p1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0210" y="3300413"/>
            <a:ext cx="8924925" cy="28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Flex container properties (6) – set a width and height for the main container first in order to understand this 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b="1" lang="en-US"/>
              <a:t>3. justify-content:</a:t>
            </a:r>
            <a:r>
              <a:rPr lang="en-US"/>
              <a:t> Aligns items along the main axis(main axis = left ↔ right when in row, or top ↕ bottom when in column). </a:t>
            </a:r>
            <a:endParaRPr/>
          </a:p>
          <a:p>
            <a:pPr indent="-457200" lvl="2" marL="1600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Font typeface="Arial"/>
              <a:buChar char="•"/>
            </a:pPr>
            <a:r>
              <a:rPr b="1" lang="en-US"/>
              <a:t>flex-start (default)</a:t>
            </a:r>
            <a:r>
              <a:rPr lang="en-US"/>
              <a:t> → Items stick to the start of the main axis.</a:t>
            </a:r>
            <a:endParaRPr/>
          </a:p>
          <a:p>
            <a:pPr indent="-457200" lvl="2" marL="1600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Font typeface="Arial"/>
              <a:buChar char="•"/>
            </a:pPr>
            <a:r>
              <a:rPr b="1" lang="en-US"/>
              <a:t>flex-end</a:t>
            </a:r>
            <a:r>
              <a:rPr lang="en-US"/>
              <a:t> → Items stick to the end of the main axis.</a:t>
            </a:r>
            <a:endParaRPr/>
          </a:p>
          <a:p>
            <a:pPr indent="-457200" lvl="2" marL="1600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Font typeface="Arial"/>
              <a:buChar char="•"/>
            </a:pPr>
            <a:r>
              <a:rPr b="1" lang="en-US"/>
              <a:t>center → </a:t>
            </a:r>
            <a:r>
              <a:rPr lang="en-US"/>
              <a:t>Items are centered along the main axis.</a:t>
            </a:r>
            <a:endParaRPr/>
          </a:p>
          <a:p>
            <a:pPr indent="-457200" lvl="2" marL="1600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Font typeface="Arial"/>
              <a:buChar char="•"/>
            </a:pPr>
            <a:r>
              <a:rPr b="1" lang="en-US"/>
              <a:t>space-between → </a:t>
            </a:r>
            <a:r>
              <a:rPr lang="en-US"/>
              <a:t>Items have equal space between them, but none at edges.</a:t>
            </a:r>
            <a:endParaRPr/>
          </a:p>
          <a:p>
            <a:pPr indent="-457200" lvl="2" marL="1600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Font typeface="Arial"/>
              <a:buChar char="•"/>
            </a:pPr>
            <a:r>
              <a:rPr b="1" lang="en-US"/>
              <a:t>space-around → </a:t>
            </a:r>
            <a:r>
              <a:rPr lang="en-US"/>
              <a:t>Items have space on both sides, edges have half spacing.</a:t>
            </a:r>
            <a:endParaRPr/>
          </a:p>
          <a:p>
            <a:pPr indent="-457200" lvl="2" marL="1600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Font typeface="Arial"/>
              <a:buChar char="•"/>
            </a:pPr>
            <a:r>
              <a:rPr b="1" lang="en-US"/>
              <a:t>space-evenly →</a:t>
            </a:r>
            <a:r>
              <a:rPr lang="en-US"/>
              <a:t> Equal spacing everywhere (between items + edges).</a:t>
            </a:r>
            <a:endParaRPr/>
          </a:p>
          <a:p>
            <a:pPr indent="-358139" lvl="2" marL="1600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Font typeface="Arial"/>
              <a:buNone/>
            </a:pPr>
            <a:r>
              <a:t/>
            </a:r>
            <a:endParaRPr/>
          </a:p>
          <a:p>
            <a:pPr indent="-34163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5" name="Google Shape;165;p14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14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sz="2800"/>
              <a:t>Flex Container Properties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May see something like this (or something else based on the values you have placed so far for the three properties)</a:t>
            </a:r>
            <a:endParaRPr/>
          </a:p>
        </p:txBody>
      </p:sp>
      <p:sp>
        <p:nvSpPr>
          <p:cNvPr id="172" name="Google Shape;172;p14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14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sz="4000"/>
              <a:t>Flex Container Properties </a:t>
            </a:r>
            <a:endParaRPr/>
          </a:p>
        </p:txBody>
      </p:sp>
      <p:pic>
        <p:nvPicPr>
          <p:cNvPr id="174" name="Google Shape;174;p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24187" y="2515394"/>
            <a:ext cx="6143625" cy="381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May see something like this (or something else based on the values you have placed so far for the three properties)</a:t>
            </a:r>
            <a:endParaRPr/>
          </a:p>
        </p:txBody>
      </p:sp>
      <p:sp>
        <p:nvSpPr>
          <p:cNvPr id="180" name="Google Shape;180;p14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14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sz="4000"/>
              <a:t>Flex Container Properties </a:t>
            </a:r>
            <a:endParaRPr/>
          </a:p>
        </p:txBody>
      </p:sp>
      <p:pic>
        <p:nvPicPr>
          <p:cNvPr id="182" name="Google Shape;182;p1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24187" y="2515394"/>
            <a:ext cx="6143625" cy="381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/>
              <a:t>4. align-items : </a:t>
            </a:r>
            <a:r>
              <a:rPr lang="en-US"/>
              <a:t>Aligns items on the cross axis(cross axis = perpendicular to the main axis). 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b="1" lang="en-US"/>
              <a:t>stretch (default) →</a:t>
            </a:r>
            <a:r>
              <a:rPr lang="en-US"/>
              <a:t> Items stretch to fill the cross-axis (height in row layout).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b="1" lang="en-US"/>
              <a:t>flex-start →</a:t>
            </a:r>
            <a:r>
              <a:rPr lang="en-US"/>
              <a:t> Items align to the start of the cross axis.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b="1" lang="en-US"/>
              <a:t>flex-end → </a:t>
            </a:r>
            <a:r>
              <a:rPr lang="en-US"/>
              <a:t>Items align to the end of the cross axis.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b="1" lang="en-US"/>
              <a:t>center → </a:t>
            </a:r>
            <a:r>
              <a:rPr lang="en-US"/>
              <a:t>Items align in the middle of the cross axis.</a:t>
            </a:r>
            <a:endParaRPr/>
          </a:p>
        </p:txBody>
      </p:sp>
      <p:sp>
        <p:nvSpPr>
          <p:cNvPr id="188" name="Google Shape;188;p15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5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sz="4000"/>
              <a:t>Flex Container Properties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5" name="Google Shape;195;p15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6" name="Google Shape;196;p15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sz="4000"/>
              <a:t>Flex Container Properties </a:t>
            </a:r>
            <a:endParaRPr/>
          </a:p>
        </p:txBody>
      </p:sp>
      <p:pic>
        <p:nvPicPr>
          <p:cNvPr id="197" name="Google Shape;197;p1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6087" y="1538287"/>
            <a:ext cx="6219825" cy="378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5.</a:t>
            </a:r>
            <a:r>
              <a:rPr b="1" lang="en-US"/>
              <a:t> gap :</a:t>
            </a:r>
            <a:r>
              <a:rPr lang="en-US"/>
              <a:t>Controls spacing between flex items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b="1" lang="en-US"/>
              <a:t>gap: &lt;length&gt; </a:t>
            </a:r>
            <a:r>
              <a:rPr lang="en-US"/>
              <a:t>→ Same gap between rows and columns. Example: gap: 20px;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b="1" lang="en-US"/>
              <a:t>gap: row-gap column-gap</a:t>
            </a:r>
            <a:r>
              <a:rPr lang="en-US"/>
              <a:t> → Different spacing for rows and columns. Example: gap: 20px 10px;20px = vertical space10px = horizontal space</a:t>
            </a:r>
            <a:endParaRPr/>
          </a:p>
        </p:txBody>
      </p:sp>
      <p:sp>
        <p:nvSpPr>
          <p:cNvPr id="203" name="Google Shape;203;p15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p15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sz="4000"/>
              <a:t>Flex Container Properties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6. flex-wrap - Controls whether items stay on one line or wrap to new rows. 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b="1" lang="en-US"/>
              <a:t>nowrap (default) </a:t>
            </a:r>
            <a:r>
              <a:rPr lang="en-US"/>
              <a:t>→ Items stay on one line, shrink if needed.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b="1" lang="en-US"/>
              <a:t>wrap</a:t>
            </a:r>
            <a:r>
              <a:rPr lang="en-US"/>
              <a:t> → Items move to a new line when there’s no space.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b="1" lang="en-US"/>
              <a:t>wrap-reverse</a:t>
            </a:r>
            <a:r>
              <a:rPr lang="en-US"/>
              <a:t> → Items wrap but in the reverse direction.</a:t>
            </a:r>
            <a:endParaRPr/>
          </a:p>
        </p:txBody>
      </p:sp>
      <p:sp>
        <p:nvSpPr>
          <p:cNvPr id="210" name="Google Shape;210;p15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15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sz="4000"/>
              <a:t>Flex Container Properties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17" name="Google Shape;217;p15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15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sz="4000"/>
              <a:t>Flex Container Properties </a:t>
            </a:r>
            <a:endParaRPr/>
          </a:p>
        </p:txBody>
      </p:sp>
      <p:pic>
        <p:nvPicPr>
          <p:cNvPr id="219" name="Google Shape;219;p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8475" y="1485900"/>
            <a:ext cx="611505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ct val="81081"/>
              <a:buFont typeface="Noto Sans Symbols"/>
              <a:buNone/>
            </a:pPr>
            <a:r>
              <a:rPr lang="en-US"/>
              <a:t>These properties go on individual flex items, not the container.</a:t>
            </a:r>
            <a:endParaRPr/>
          </a:p>
          <a:p>
            <a:pPr indent="-514350" lvl="0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81081"/>
              <a:buAutoNum type="arabicPeriod"/>
            </a:pPr>
            <a:r>
              <a:rPr b="1" lang="en-US"/>
              <a:t>flex-grow - </a:t>
            </a:r>
            <a:r>
              <a:rPr lang="en-US"/>
              <a:t>Defines how much an item can grow to fill space.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70270"/>
              <a:buAutoNum type="arabicPeriod"/>
            </a:pPr>
            <a:r>
              <a:rPr lang="en-US"/>
              <a:t>0 (default, does not grow)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70270"/>
              <a:buAutoNum type="arabicPeriod"/>
            </a:pPr>
            <a:r>
              <a:rPr lang="en-US"/>
              <a:t>1 or more (grows)</a:t>
            </a:r>
            <a:endParaRPr/>
          </a:p>
          <a:p>
            <a:pPr indent="-514350" lvl="0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81081"/>
              <a:buAutoNum type="arabicPeriod"/>
            </a:pPr>
            <a:r>
              <a:rPr b="1" lang="en-US"/>
              <a:t>flex-shrink </a:t>
            </a:r>
            <a:r>
              <a:rPr lang="en-US"/>
              <a:t>- Defines how much an item can shrink if needed.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70270"/>
              <a:buAutoNum type="arabicPeriod"/>
            </a:pPr>
            <a:r>
              <a:rPr lang="en-US"/>
              <a:t>1 (default, can shrink)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70270"/>
              <a:buAutoNum type="arabicPeriod"/>
            </a:pPr>
            <a:r>
              <a:rPr lang="en-US"/>
              <a:t>0 (do not shrink)</a:t>
            </a:r>
            <a:endParaRPr/>
          </a:p>
          <a:p>
            <a:pPr indent="-514350" lvl="0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81081"/>
              <a:buAutoNum type="arabicPeriod"/>
            </a:pPr>
            <a:r>
              <a:rPr b="1" lang="en-US"/>
              <a:t>flex-basis - </a:t>
            </a:r>
            <a:r>
              <a:rPr lang="en-US"/>
              <a:t>Sets the initial size of an item.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70270"/>
              <a:buAutoNum type="arabicPeriod"/>
            </a:pPr>
            <a:r>
              <a:rPr lang="en-US"/>
              <a:t>auto (default)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70270"/>
              <a:buAutoNum type="arabicPeriod"/>
            </a:pPr>
            <a:r>
              <a:rPr lang="en-US"/>
              <a:t>any length: 100px, 20%, etc.4. </a:t>
            </a:r>
            <a:endParaRPr/>
          </a:p>
        </p:txBody>
      </p:sp>
      <p:sp>
        <p:nvSpPr>
          <p:cNvPr id="225" name="Google Shape;225;p15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p15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Flexbox Properties for the ITEMS (Children)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ct val="81081"/>
              <a:buFont typeface="Noto Sans Symbols"/>
              <a:buNone/>
            </a:pPr>
            <a:r>
              <a:rPr lang="en-US"/>
              <a:t>These properties go on individual flex items, not the container.</a:t>
            </a:r>
            <a:endParaRPr/>
          </a:p>
          <a:p>
            <a:pPr indent="-514350" lvl="0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81081"/>
              <a:buFont typeface="Arial"/>
              <a:buAutoNum type="arabicPeriod" startAt="4"/>
            </a:pPr>
            <a:r>
              <a:rPr b="1" lang="en-US"/>
              <a:t>flex</a:t>
            </a:r>
            <a:r>
              <a:rPr lang="en-US"/>
              <a:t> (shorthand for grow, shrink, basis)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70270"/>
              <a:buAutoNum type="arabicPeriod"/>
            </a:pPr>
            <a:r>
              <a:rPr lang="en-US"/>
              <a:t>Examples:flex: 1; → grow equally, auto basis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70270"/>
              <a:buAutoNum type="arabicPeriod"/>
            </a:pPr>
            <a:r>
              <a:rPr lang="en-US"/>
              <a:t>flex: 1 0 200px;</a:t>
            </a:r>
            <a:endParaRPr/>
          </a:p>
          <a:p>
            <a:pPr indent="-514350" lvl="0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81081"/>
              <a:buAutoNum type="arabicPeriod" startAt="4"/>
            </a:pPr>
            <a:r>
              <a:rPr b="1" lang="en-US"/>
              <a:t>align-self</a:t>
            </a:r>
            <a:r>
              <a:rPr lang="en-US"/>
              <a:t> Overrides align-items for a single item.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70270"/>
              <a:buAutoNum type="arabicPeriod"/>
            </a:pPr>
            <a:r>
              <a:rPr lang="en-US"/>
              <a:t>auto (default)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70270"/>
              <a:buAutoNum type="arabicPeriod"/>
            </a:pPr>
            <a:r>
              <a:rPr lang="en-US"/>
              <a:t>flex-start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70270"/>
              <a:buAutoNum type="arabicPeriod"/>
            </a:pPr>
            <a:r>
              <a:rPr lang="en-US"/>
              <a:t>flex-end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70270"/>
              <a:buAutoNum type="arabicPeriod"/>
            </a:pPr>
            <a:r>
              <a:rPr lang="en-US"/>
              <a:t>Center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70270"/>
              <a:buAutoNum type="arabicPeriod"/>
            </a:pPr>
            <a:r>
              <a:rPr lang="en-US"/>
              <a:t>Stretch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70270"/>
              <a:buAutoNum type="arabicPeriod"/>
            </a:pPr>
            <a:r>
              <a:rPr lang="en-US"/>
              <a:t>baseline</a:t>
            </a:r>
            <a:endParaRPr/>
          </a:p>
        </p:txBody>
      </p:sp>
      <p:sp>
        <p:nvSpPr>
          <p:cNvPr id="232" name="Google Shape;232;p15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" name="Google Shape;233;p15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Flexbox Properties for the ITEMS (Children)</a:t>
            </a:r>
            <a:endParaRPr/>
          </a:p>
        </p:txBody>
      </p:sp>
      <p:pic>
        <p:nvPicPr>
          <p:cNvPr id="234" name="Google Shape;234;p1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2326" y="3760579"/>
            <a:ext cx="4245990" cy="2574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5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b="1" lang="en-US"/>
              <a:t>Exercise :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Make a flex container. Place 3 divs in it side by side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Make the middle div another flex container, place 3 spans in it from to bottom.</a:t>
            </a:r>
            <a:endParaRPr/>
          </a:p>
        </p:txBody>
      </p:sp>
      <p:sp>
        <p:nvSpPr>
          <p:cNvPr id="240" name="Google Shape;240;p15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1" name="Google Shape;241;p15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Make a flex container within flex container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CSS Grid is a </a:t>
            </a:r>
            <a:r>
              <a:rPr b="1" lang="en-US"/>
              <a:t>two-dimensional</a:t>
            </a:r>
            <a:r>
              <a:rPr lang="en-US"/>
              <a:t> layout system.</a:t>
            </a:r>
            <a:br>
              <a:rPr lang="en-US"/>
            </a:b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This means it lets you control </a:t>
            </a:r>
            <a:r>
              <a:rPr b="1" lang="en-US"/>
              <a:t>rows AND columns</a:t>
            </a:r>
            <a:r>
              <a:rPr lang="en-US"/>
              <a:t> at the same time.</a:t>
            </a:r>
            <a:endParaRPr/>
          </a:p>
          <a:p>
            <a:pPr indent="-3048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Flexbox = 1D</a:t>
            </a:r>
            <a:br>
              <a:rPr lang="en-US"/>
            </a:b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Grid = 2D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47" name="Google Shape;247;p15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p15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Grid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b="1" lang="en-US"/>
              <a:t>display</a:t>
            </a:r>
            <a:r>
              <a:rPr lang="en-US"/>
              <a:t>: grid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Enables CSS Grid on the container.</a:t>
            </a:r>
            <a:endParaRPr/>
          </a:p>
          <a:p>
            <a:pPr indent="-514350" lvl="0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b="1" lang="en-US"/>
              <a:t>grid-template-columns</a:t>
            </a:r>
            <a:r>
              <a:rPr lang="en-US"/>
              <a:t> : Defines how many columns the grid has.</a:t>
            </a:r>
            <a:endParaRPr/>
          </a:p>
          <a:p>
            <a:pPr indent="-514350" lvl="2" marL="1657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b="1" lang="en-US"/>
              <a:t>grid-template-columns: </a:t>
            </a:r>
            <a:r>
              <a:rPr lang="en-US"/>
              <a:t>200px 200px 200px;</a:t>
            </a:r>
            <a:endParaRPr/>
          </a:p>
          <a:p>
            <a:pPr indent="-514350" lvl="2" marL="1657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b="1" lang="en-US"/>
              <a:t>grid-template-columns: </a:t>
            </a:r>
            <a:r>
              <a:rPr lang="en-US"/>
              <a:t>1fr 1fr 1fr;</a:t>
            </a:r>
            <a:endParaRPr/>
          </a:p>
          <a:p>
            <a:pPr indent="-514350" lvl="2" marL="1657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b="1" lang="en-US"/>
              <a:t>grid-template-columns: </a:t>
            </a:r>
            <a:r>
              <a:rPr lang="en-US"/>
              <a:t>repeat(3, 1fr);</a:t>
            </a:r>
            <a:endParaRPr/>
          </a:p>
          <a:p>
            <a:pPr indent="-514350" lvl="2" marL="1657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b="1" lang="en-US"/>
              <a:t>grid-template-columns: </a:t>
            </a:r>
            <a:r>
              <a:rPr lang="en-US"/>
              <a:t>100px auto 100px;</a:t>
            </a:r>
            <a:endParaRPr/>
          </a:p>
          <a:p>
            <a:pPr indent="-415289" lvl="2" marL="1657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4" name="Google Shape;254;p15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5" name="Google Shape;255;p15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Grid Container Properties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6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AutoNum type="arabicPeriod" startAt="3"/>
            </a:pPr>
            <a:r>
              <a:rPr b="1" lang="en-US"/>
              <a:t>grid-template-rows: </a:t>
            </a:r>
            <a:r>
              <a:rPr lang="en-US"/>
              <a:t>Defines the height of rows.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grid-template-rows: 100px 100px;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grid-template-rows: auto auto;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grid-template-rows: repeat(2, 150px);</a:t>
            </a:r>
            <a:endParaRPr/>
          </a:p>
          <a:p>
            <a:pPr indent="-514350" lvl="0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AutoNum type="arabicPeriod" startAt="3"/>
            </a:pPr>
            <a:r>
              <a:rPr b="1" lang="en-US"/>
              <a:t>gap / row-gap / column-gap : </a:t>
            </a:r>
            <a:r>
              <a:rPr lang="en-US"/>
              <a:t>Controls spacing between grid cells.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gap: 20px;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row-gap: 10px;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column-gap: 30px;</a:t>
            </a:r>
            <a:endParaRPr/>
          </a:p>
          <a:p>
            <a:pPr indent="-514350" lvl="0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9878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1" name="Google Shape;261;p16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2" name="Google Shape;262;p16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Grid Container Properties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6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514350" lvl="0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AutoNum type="arabicPeriod" startAt="5"/>
            </a:pPr>
            <a:r>
              <a:rPr b="1" lang="en-US"/>
              <a:t>justify-items: </a:t>
            </a:r>
            <a:r>
              <a:rPr lang="en-US"/>
              <a:t>Aligns items </a:t>
            </a:r>
            <a:r>
              <a:rPr b="1" lang="en-US"/>
              <a:t>horizontally inside each cell</a:t>
            </a:r>
            <a:r>
              <a:rPr lang="en-US"/>
              <a:t>.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start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center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end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stretch (default)</a:t>
            </a:r>
            <a:endParaRPr/>
          </a:p>
          <a:p>
            <a:pPr indent="-514350" lvl="0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AutoNum type="arabicPeriod" startAt="5"/>
            </a:pPr>
            <a:r>
              <a:rPr b="1" lang="en-US"/>
              <a:t>align-items: </a:t>
            </a:r>
            <a:r>
              <a:rPr lang="en-US"/>
              <a:t>Aligns items </a:t>
            </a:r>
            <a:r>
              <a:rPr b="1" lang="en-US"/>
              <a:t>vertically inside each cell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start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center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end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●"/>
            </a:pPr>
            <a:r>
              <a:rPr lang="en-US"/>
              <a:t>stretch</a:t>
            </a:r>
            <a:endParaRPr/>
          </a:p>
          <a:p>
            <a:pPr indent="-514350" lvl="0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9878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8" name="Google Shape;268;p16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9" name="Google Shape;269;p16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Grid Container Properties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6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514350" lvl="0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96774"/>
              <a:buAutoNum type="arabicPeriod"/>
            </a:pPr>
            <a:r>
              <a:rPr b="1" lang="en-US"/>
              <a:t>grid-column : </a:t>
            </a:r>
            <a:r>
              <a:rPr lang="en-US"/>
              <a:t>Controls how many columns an item spans.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83870"/>
              <a:buChar char="●"/>
            </a:pPr>
            <a:r>
              <a:rPr lang="en-US"/>
              <a:t>grid-column: 1 / 3; /* from column 1 to 3 */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83870"/>
              <a:buChar char="●"/>
            </a:pPr>
            <a:r>
              <a:rPr lang="en-US"/>
              <a:t>grid-column: span 2; /* span 2 columns */</a:t>
            </a:r>
            <a:endParaRPr/>
          </a:p>
          <a:p>
            <a:pPr indent="-514350" lvl="0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96774"/>
              <a:buAutoNum type="arabicPeriod"/>
            </a:pPr>
            <a:r>
              <a:rPr b="1" lang="en-US"/>
              <a:t>grid-row : </a:t>
            </a:r>
            <a:r>
              <a:rPr lang="en-US"/>
              <a:t>Controls how many rows an item spans.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83870"/>
              <a:buChar char="●"/>
            </a:pPr>
            <a:r>
              <a:rPr lang="en-US"/>
              <a:t>grid-row: 2 / 4;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83870"/>
              <a:buChar char="●"/>
            </a:pPr>
            <a:r>
              <a:rPr lang="en-US"/>
              <a:t>grid-row: span 2;</a:t>
            </a:r>
            <a:endParaRPr/>
          </a:p>
          <a:p>
            <a:pPr indent="-514350" lvl="0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96774"/>
              <a:buAutoNum type="arabicPeriod"/>
            </a:pPr>
            <a:r>
              <a:rPr b="1" lang="en-US"/>
              <a:t>justify-self :  </a:t>
            </a:r>
            <a:r>
              <a:rPr lang="en-US"/>
              <a:t>Aligns an individual item horizontally. Values: </a:t>
            </a:r>
            <a:r>
              <a:rPr b="1" lang="en-US"/>
              <a:t>start, center, end, stretch</a:t>
            </a:r>
            <a:endParaRPr/>
          </a:p>
          <a:p>
            <a:pPr indent="-514350" lvl="0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96774"/>
              <a:buAutoNum type="arabicPeriod"/>
            </a:pPr>
            <a:r>
              <a:rPr b="1" lang="en-US"/>
              <a:t>align-self </a:t>
            </a:r>
            <a:r>
              <a:rPr lang="en-US"/>
              <a:t>: Aligns an individual item vertically. Values: </a:t>
            </a:r>
            <a:r>
              <a:rPr b="1" lang="en-US"/>
              <a:t>start, center, end, stretch</a:t>
            </a:r>
            <a:endParaRPr/>
          </a:p>
          <a:p>
            <a:pPr indent="-514350" lvl="0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96774"/>
              <a:buAutoNum type="arabicPeriod"/>
            </a:pPr>
            <a:r>
              <a:rPr b="1" lang="en-US"/>
              <a:t>grid-area : </a:t>
            </a:r>
            <a:r>
              <a:rPr lang="en-US"/>
              <a:t>A shorthand for placing an item using: </a:t>
            </a:r>
            <a:r>
              <a:rPr b="1" lang="en-US"/>
              <a:t>grid-row-start / grid-column-start / grid-row-end / grid-column</a:t>
            </a:r>
            <a:r>
              <a:rPr lang="en-US"/>
              <a:t>-</a:t>
            </a:r>
            <a:endParaRPr/>
          </a:p>
          <a:p>
            <a:pPr indent="-51435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83870"/>
              <a:buChar char="●"/>
            </a:pPr>
            <a:r>
              <a:rPr b="1" lang="en-US"/>
              <a:t>Example : grid-area: 1 / 1 / 3 / 4;</a:t>
            </a:r>
            <a:endParaRPr/>
          </a:p>
        </p:txBody>
      </p:sp>
      <p:sp>
        <p:nvSpPr>
          <p:cNvPr id="275" name="Google Shape;275;p16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" name="Google Shape;276;p16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sz="3200"/>
              <a:t>Grid Element Properties (not block, inline, or flex)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The elements inside are grid items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Grids can be inserted inside grids</a:t>
            </a:r>
            <a:endParaRPr/>
          </a:p>
        </p:txBody>
      </p:sp>
      <p:sp>
        <p:nvSpPr>
          <p:cNvPr id="282" name="Google Shape;282;p16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3" name="Google Shape;283;p16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Grid Layout</a:t>
            </a:r>
            <a:endParaRPr/>
          </a:p>
        </p:txBody>
      </p:sp>
      <p:pic>
        <p:nvPicPr>
          <p:cNvPr id="284" name="Google Shape;284;p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0198" y="3505582"/>
            <a:ext cx="9731604" cy="1737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adf850c871_0_0"/>
          <p:cNvSpPr txBox="1"/>
          <p:nvPr>
            <p:ph idx="1" type="body"/>
          </p:nvPr>
        </p:nvSpPr>
        <p:spPr>
          <a:xfrm>
            <a:off x="838200" y="1227909"/>
            <a:ext cx="10515600" cy="49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rPr lang="en-US"/>
              <a:t>Use the things you learned so far!</a:t>
            </a:r>
            <a:endParaRPr/>
          </a:p>
        </p:txBody>
      </p:sp>
      <p:sp>
        <p:nvSpPr>
          <p:cNvPr id="291" name="Google Shape;291;g3adf850c871_0_0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2" name="Google Shape;292;g3adf850c871_0_0"/>
          <p:cNvSpPr txBox="1"/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Download the form code</a:t>
            </a:r>
            <a:endParaRPr/>
          </a:p>
        </p:txBody>
      </p:sp>
      <p:pic>
        <p:nvPicPr>
          <p:cNvPr id="293" name="Google Shape;293;g3adf850c87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0613" y="1359250"/>
            <a:ext cx="3093187" cy="4949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g3adf850c871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9000" y="2284154"/>
            <a:ext cx="2743200" cy="354064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g3adf850c871_0_0"/>
          <p:cNvSpPr/>
          <p:nvPr/>
        </p:nvSpPr>
        <p:spPr>
          <a:xfrm>
            <a:off x="5246525" y="3296750"/>
            <a:ext cx="1676100" cy="92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301" name="Google Shape;301;p12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02" name="Google Shape;302;p126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Saturday, September 23, 2023</a:t>
            </a:r>
            <a:endParaRPr/>
          </a:p>
        </p:txBody>
      </p:sp>
      <p:sp>
        <p:nvSpPr>
          <p:cNvPr id="303" name="Google Shape;303;p126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04" name="Google Shape;304;p126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2023-03-19T03:25:32Z</dcterms:created>
  <dc:creator>lenovo</dc:creator>
</cp:coreProperties>
</file>