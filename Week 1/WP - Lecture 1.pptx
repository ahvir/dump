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12192000"/>
  <p:notesSz cx="6858000" cy="9144000"/>
  <p:embeddedFontLst>
    <p:embeddedFont>
      <p:font typeface="Arimo"/>
      <p:regular r:id="rId50"/>
      <p:bold r:id="rId51"/>
      <p:italic r:id="rId52"/>
      <p:boldItalic r:id="rId53"/>
    </p:embeddedFont>
    <p:embeddedFont>
      <p:font typeface="Tahoma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xuu4GPJ2PdTnZfYfVwFNG/jzv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CB966B-8E1F-416F-8144-ACF597E7866B}">
  <a:tblStyle styleId="{1CCB966B-8E1F-416F-8144-ACF597E7866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-bold.fntdata"/><Relationship Id="rId50" Type="http://schemas.openxmlformats.org/officeDocument/2006/relationships/font" Target="fonts/Arimo-regular.fntdata"/><Relationship Id="rId53" Type="http://schemas.openxmlformats.org/officeDocument/2006/relationships/font" Target="fonts/Arimo-boldItalic.fntdata"/><Relationship Id="rId52" Type="http://schemas.openxmlformats.org/officeDocument/2006/relationships/font" Target="fonts/Arimo-italic.fntdata"/><Relationship Id="rId11" Type="http://schemas.openxmlformats.org/officeDocument/2006/relationships/slide" Target="slides/slide6.xml"/><Relationship Id="rId55" Type="http://schemas.openxmlformats.org/officeDocument/2006/relationships/font" Target="fonts/Tahoma-bold.fntdata"/><Relationship Id="rId10" Type="http://schemas.openxmlformats.org/officeDocument/2006/relationships/slide" Target="slides/slide5.xml"/><Relationship Id="rId54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5" name="Google Shape;435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5" name="Google Shape;445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5" name="Google Shape;475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5" name="Google Shape;485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3" name="Google Shape;523;p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2" name="Google Shape;542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2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13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13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13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1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1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1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2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6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shadman@cse.uiu.ac.b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se.uiu.ac.bd/faculty/aadeeb/" TargetMode="External"/><Relationship Id="rId4" Type="http://schemas.openxmlformats.org/officeDocument/2006/relationships/hyperlink" Target="https://scholar.google.com/citations?user=m486BOkAAAAJ&amp;hl=en" TargetMode="External"/><Relationship Id="rId5" Type="http://schemas.openxmlformats.org/officeDocument/2006/relationships/image" Target="../media/image1.jp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4165: Web Programming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b="1" lang="en-US" sz="8000">
                <a:latin typeface="Times New Roman"/>
                <a:ea typeface="Times New Roman"/>
                <a:cs typeface="Times New Roman"/>
                <a:sym typeface="Times New Roman"/>
              </a:rPr>
              <a:t>WELCOME!</a:t>
            </a:r>
            <a:endParaRPr b="1" sz="8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None/>
            </a:pPr>
            <a:r>
              <a:rPr b="1" i="0" lang="en-US" sz="2400" u="sng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Mark Distribution: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0" i="0" sz="24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Attendance:</a:t>
            </a:r>
            <a:r>
              <a:rPr b="0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76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4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Project with Viva:</a:t>
            </a:r>
            <a:r>
              <a:rPr b="0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3</a:t>
            </a:r>
            <a:r>
              <a:rPr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259746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1000"/>
              <a:buFont typeface="Arial"/>
              <a:buChar char="•"/>
            </a:pPr>
            <a:r>
              <a:rPr b="0" i="0" lang="en-US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Prototype Presentation with viva (Week 3): 10</a:t>
            </a:r>
            <a:endParaRPr/>
          </a:p>
          <a:p>
            <a:pPr indent="-259746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1000"/>
              <a:buFont typeface="Arial"/>
              <a:buChar char="•"/>
            </a:pPr>
            <a:r>
              <a:rPr b="0" i="0" lang="en-US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Interim Demonstration (Week 8, 50% of Project </a:t>
            </a:r>
            <a:r>
              <a:rPr b="1" i="0" lang="en-US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(Front End)</a:t>
            </a:r>
            <a:r>
              <a:rPr b="0" i="0" lang="en-US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+ Viva): 10</a:t>
            </a:r>
            <a:endParaRPr/>
          </a:p>
          <a:p>
            <a:pPr indent="-259746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1000"/>
              <a:buFont typeface="Arial"/>
              <a:buChar char="•"/>
            </a:pPr>
            <a:r>
              <a:rPr b="0" i="0" lang="en-US" sz="20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Final Demonstration (Week 12, 100% of Project + Viva): 10</a:t>
            </a:r>
            <a:endParaRPr b="0" i="0" sz="2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141176"/>
              <a:buNone/>
            </a:pPr>
            <a:r>
              <a:t/>
            </a:r>
            <a:endParaRPr sz="2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025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222222"/>
              </a:buClr>
              <a:buSzPct val="83333"/>
              <a:buFont typeface="Arial"/>
              <a:buChar char="•"/>
            </a:pPr>
            <a:r>
              <a:rPr b="1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 order to effectively utilize time the viva questions may be given in the form of a quiz (same questions written)</a:t>
            </a:r>
            <a:endParaRPr b="1" sz="24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018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1000"/>
              <a:buFont typeface="Arial"/>
              <a:buNone/>
            </a:pPr>
            <a:r>
              <a:t/>
            </a:r>
            <a:endParaRPr b="0" i="0" sz="20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Midterm Exam:</a:t>
            </a:r>
            <a:r>
              <a:rPr b="0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30 (University-declared Midterm Week)</a:t>
            </a:r>
            <a:endParaRPr/>
          </a:p>
          <a:p>
            <a:pPr indent="-76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400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b="1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Final Exam:</a:t>
            </a:r>
            <a:r>
              <a:rPr b="0" i="0" lang="en-US" sz="24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30 (University-declared Final Week)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Regarding the course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9"/>
          <p:cNvSpPr txBox="1"/>
          <p:nvPr>
            <p:ph idx="1" type="body"/>
          </p:nvPr>
        </p:nvSpPr>
        <p:spPr>
          <a:xfrm>
            <a:off x="838200" y="923827"/>
            <a:ext cx="10515600" cy="52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Course Plan:</a:t>
            </a:r>
            <a:endParaRPr/>
          </a:p>
        </p:txBody>
      </p:sp>
      <p:sp>
        <p:nvSpPr>
          <p:cNvPr id="122" name="Google Shape;122;p1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Regarding the course</a:t>
            </a:r>
            <a:endParaRPr/>
          </a:p>
        </p:txBody>
      </p:sp>
      <p:graphicFrame>
        <p:nvGraphicFramePr>
          <p:cNvPr id="124" name="Google Shape;124;p139"/>
          <p:cNvGraphicFramePr/>
          <p:nvPr/>
        </p:nvGraphicFramePr>
        <p:xfrm>
          <a:off x="1157802" y="1630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{1CCB966B-8E1F-416F-8144-ACF597E7866B}</a:tableStyleId>
              </a:tblPr>
              <a:tblGrid>
                <a:gridCol w="1310475"/>
                <a:gridCol w="2054125"/>
                <a:gridCol w="6242975"/>
              </a:tblGrid>
              <a:tr h="22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Week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Class Topic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Tasks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645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HTML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Announcement of </a:t>
                      </a:r>
                      <a:r>
                        <a:rPr b="1" lang="en-US" sz="1600" u="none" cap="none" strike="noStrike"/>
                        <a:t>Group</a:t>
                      </a:r>
                      <a:r>
                        <a:rPr lang="en-US" sz="1600" u="none" cap="none" strike="noStrike"/>
                        <a:t> </a:t>
                      </a:r>
                      <a:r>
                        <a:rPr b="1" lang="en-US" sz="1600" u="none" cap="none" strike="noStrike"/>
                        <a:t>creation</a:t>
                      </a:r>
                      <a:r>
                        <a:rPr lang="en-US" sz="1600" u="none" cap="none" strike="noStrike"/>
                        <a:t>, each group will be a team of </a:t>
                      </a:r>
                      <a:r>
                        <a:rPr b="1" lang="en-US" sz="1600" u="none" cap="none" strike="noStrike"/>
                        <a:t>4 members.</a:t>
                      </a:r>
                      <a:endParaRPr sz="16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2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HTML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A group form will be provided to take the group name, each member's name and student ID.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Projects will be assigned randomly, different groups will have to do different projects assigned by course teachers. Student cannot propose their own project.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4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HTML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Prototype Presentation.</a:t>
                      </a:r>
                      <a:r>
                        <a:rPr lang="en-US" sz="1600" u="none" cap="none" strike="noStrike"/>
                        <a:t> 10 Marks. 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n-US" sz="1600" u="none" cap="none" strike="noStrike"/>
                        <a:t>Students will present their prototype of the project assigned to them using </a:t>
                      </a:r>
                      <a:r>
                        <a:rPr b="1" lang="en-US" sz="1600" u="none" cap="none" strike="noStrike"/>
                        <a:t>Figma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CSS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CSS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JS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lang="en-US" sz="1600" u="none" cap="none" strike="noStrike"/>
                        <a:t>Lecture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Mid Exam following official UIU Calendar (Syllabus: HTML, CSS)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25" name="Google Shape;125;p1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26" name="Google Shape;126;p1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0"/>
          <p:cNvSpPr txBox="1"/>
          <p:nvPr>
            <p:ph idx="1" type="body"/>
          </p:nvPr>
        </p:nvSpPr>
        <p:spPr>
          <a:xfrm>
            <a:off x="838200" y="923827"/>
            <a:ext cx="10515600" cy="52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/>
              <a:t>Course Plan:</a:t>
            </a:r>
            <a:endParaRPr/>
          </a:p>
        </p:txBody>
      </p:sp>
      <p:sp>
        <p:nvSpPr>
          <p:cNvPr id="132" name="Google Shape;132;p1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Regarding the course</a:t>
            </a:r>
            <a:endParaRPr/>
          </a:p>
        </p:txBody>
      </p:sp>
      <p:graphicFrame>
        <p:nvGraphicFramePr>
          <p:cNvPr id="134" name="Google Shape;134;p140"/>
          <p:cNvGraphicFramePr/>
          <p:nvPr/>
        </p:nvGraphicFramePr>
        <p:xfrm>
          <a:off x="1157802" y="1630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{1CCB966B-8E1F-416F-8144-ACF597E7866B}</a:tableStyleId>
              </a:tblPr>
              <a:tblGrid>
                <a:gridCol w="1310475"/>
                <a:gridCol w="2054125"/>
                <a:gridCol w="6242975"/>
              </a:tblGrid>
              <a:tr h="22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Week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 Topic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Tasks</a:t>
                      </a:r>
                      <a:endParaRPr sz="1400" u="none" cap="none" strike="noStrike"/>
                    </a:p>
                  </a:txBody>
                  <a:tcPr marT="14325" marB="14325" marR="21475" marL="2147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1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18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Interim Demonstration - 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Marks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Students will demonstrate their project directly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 expected students will  complete </a:t>
                      </a: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the front end of the project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PHP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Lecture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Demonstration -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Marks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Students will demonstrate their project directly. 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Char char="•"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 is expected students completed at least 100% of the project.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9025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 Exam following official UIU Calendar (Syllabus: JS, PHP, MYSQL)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  <p:sp>
        <p:nvSpPr>
          <p:cNvPr id="135" name="Google Shape;135;p1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36" name="Google Shape;136;p1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Conduct of the class</a:t>
            </a:r>
            <a:endParaRPr/>
          </a:p>
        </p:txBody>
      </p:sp>
      <p:sp>
        <p:nvSpPr>
          <p:cNvPr id="142" name="Google Shape;142;p1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43" name="Google Shape;143;p1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44" name="Google Shape;144;p1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5" name="Google Shape;145;p1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945"/>
              <a:buNone/>
            </a:pPr>
            <a:r>
              <a:rPr b="1" lang="en-US" u="sng"/>
              <a:t>How to properly prepare for this course?</a:t>
            </a:r>
            <a:endParaRPr u="sng"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Class lectures and class notes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You must bring a notebook and a pen 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Take notes diligently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Structuring your own notes at home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If required you may keep another separate note book for this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Revising and recalling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Try to complete the topics that are taught by the end of the week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Coding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Practice and code the contents taught in class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81081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1" name="Google Shape;151;p1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Conduct of the class</a:t>
            </a:r>
            <a:endParaRPr/>
          </a:p>
        </p:txBody>
      </p:sp>
      <p:sp>
        <p:nvSpPr>
          <p:cNvPr id="153" name="Google Shape;153;p1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54" name="Google Shape;154;p1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945"/>
              <a:buNone/>
            </a:pPr>
            <a:r>
              <a:rPr b="1" lang="en-US" u="sng"/>
              <a:t>Regarding class conduct</a:t>
            </a:r>
            <a:endParaRPr u="sng"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DO NOT use your phones during the class time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If you want to take a picture of the board – inform first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Sometimes I myself may tell you to take a picture of the board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Be mindful in the class 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Follow the class lecture even if you feel tired at times 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Quick tip – coffee before class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Do not be engaged in other tasks whilst the class is ongoing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Be present timely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b="1" lang="en-US"/>
              <a:t>If absent in a class, </a:t>
            </a:r>
            <a:r>
              <a:rPr lang="en-US"/>
              <a:t>collect the class notes from your classmates (the notes must be in your Notebook)</a:t>
            </a:r>
            <a:endParaRPr/>
          </a:p>
        </p:txBody>
      </p:sp>
      <p:sp>
        <p:nvSpPr>
          <p:cNvPr id="160" name="Google Shape;160;p1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Conduct of the class</a:t>
            </a:r>
            <a:endParaRPr/>
          </a:p>
        </p:txBody>
      </p:sp>
      <p:sp>
        <p:nvSpPr>
          <p:cNvPr id="162" name="Google Shape;162;p1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63" name="Google Shape;163;p1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Counselling Hours and Communication</a:t>
            </a:r>
            <a:endParaRPr/>
          </a:p>
        </p:txBody>
      </p:sp>
      <p:sp>
        <p:nvSpPr>
          <p:cNvPr id="169" name="Google Shape;169;p1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70" name="Google Shape;170;p1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71" name="Google Shape;171;p1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2" name="Google Shape;172;p1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lang="en-US" u="sng"/>
              <a:t>Regarding the counselling hours</a:t>
            </a:r>
            <a:endParaRPr u="sng"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schedule will be available in the UCAM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No appointment is needed </a:t>
            </a:r>
            <a:r>
              <a:rPr b="1" lang="en-US"/>
              <a:t>but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It would be better if you inform me earlier for convenience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Come to the counselling hours being “prepared”</a:t>
            </a:r>
            <a:endParaRPr/>
          </a:p>
          <a:p>
            <a:pPr indent="-3276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Must</a:t>
            </a:r>
            <a:r>
              <a:rPr lang="en-US"/>
              <a:t> have the </a:t>
            </a:r>
            <a:r>
              <a:rPr b="1" lang="en-US"/>
              <a:t>complete class note</a:t>
            </a:r>
            <a:r>
              <a:rPr lang="en-US"/>
              <a:t> (</a:t>
            </a:r>
            <a:r>
              <a:rPr b="1" lang="en-US"/>
              <a:t>if missed</a:t>
            </a:r>
            <a:r>
              <a:rPr lang="en-US"/>
              <a:t>, collect from your classmates into your own notebook)</a:t>
            </a:r>
            <a:endParaRPr/>
          </a:p>
          <a:p>
            <a:pPr indent="-32766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Must</a:t>
            </a:r>
            <a:r>
              <a:rPr lang="en-US"/>
              <a:t> have explored the topic before coming</a:t>
            </a:r>
            <a:endParaRPr/>
          </a:p>
          <a:p>
            <a:pPr indent="-2286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  <a:p>
            <a:pPr indent="0" lvl="2" marL="1060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78" name="Google Shape;178;p1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Counselling Hours and Communication</a:t>
            </a:r>
            <a:endParaRPr/>
          </a:p>
        </p:txBody>
      </p:sp>
      <p:sp>
        <p:nvSpPr>
          <p:cNvPr id="180" name="Google Shape;180;p1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81" name="Google Shape;181;p1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945"/>
              <a:buNone/>
            </a:pPr>
            <a:r>
              <a:rPr b="1" lang="en-US"/>
              <a:t>How will we be communicating?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lang="en-US"/>
              <a:t>You will message me via email –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shadman@cse.uiu.ac.bd</a:t>
            </a:r>
            <a:r>
              <a:rPr lang="en-US"/>
              <a:t> 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Please write the mails yourselves without using AI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Use </a:t>
            </a:r>
            <a:r>
              <a:rPr b="1" lang="en-US"/>
              <a:t>appropriate subjects </a:t>
            </a:r>
            <a:r>
              <a:rPr lang="en-US"/>
              <a:t>while sending the mail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Use you </a:t>
            </a:r>
            <a:r>
              <a:rPr b="1" lang="en-US"/>
              <a:t>university mails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lang="en-US"/>
              <a:t>I will send messages via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The elms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60231"/>
              <a:buChar char="●"/>
            </a:pPr>
            <a:r>
              <a:rPr lang="en-US"/>
              <a:t>The mail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ct val="70945"/>
              <a:buFont typeface="Arial"/>
              <a:buChar char="●"/>
            </a:pPr>
            <a:r>
              <a:rPr lang="en-US"/>
              <a:t>You must check your mails </a:t>
            </a:r>
            <a:r>
              <a:rPr b="1" lang="en-US"/>
              <a:t>regularly</a:t>
            </a:r>
            <a:r>
              <a:rPr lang="en-US"/>
              <a:t> and keep the </a:t>
            </a:r>
            <a:r>
              <a:rPr b="1" lang="en-US"/>
              <a:t>mail</a:t>
            </a:r>
            <a:r>
              <a:rPr lang="en-US"/>
              <a:t> </a:t>
            </a:r>
            <a:r>
              <a:rPr b="1" lang="en-US"/>
              <a:t>notification</a:t>
            </a:r>
            <a:r>
              <a:rPr lang="en-US"/>
              <a:t> on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70945"/>
              <a:buChar char="●"/>
            </a:pPr>
            <a:r>
              <a:rPr lang="en-US"/>
              <a:t>Also you must check the </a:t>
            </a:r>
            <a:r>
              <a:rPr b="1" lang="en-US"/>
              <a:t>elms</a:t>
            </a:r>
            <a:r>
              <a:rPr lang="en-US"/>
              <a:t> </a:t>
            </a:r>
            <a:r>
              <a:rPr b="1" lang="en-US"/>
              <a:t>regularly</a:t>
            </a:r>
            <a:endParaRPr/>
          </a:p>
        </p:txBody>
      </p:sp>
      <p:sp>
        <p:nvSpPr>
          <p:cNvPr id="187" name="Google Shape;187;p1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Counselling Hours and Communication</a:t>
            </a:r>
            <a:endParaRPr/>
          </a:p>
        </p:txBody>
      </p:sp>
      <p:sp>
        <p:nvSpPr>
          <p:cNvPr id="189" name="Google Shape;189;p1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90" name="Google Shape;190;p1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/>
              <a:t>You must communicate with your classmates too!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Create a WhatsApp group</a:t>
            </a:r>
            <a:endParaRPr/>
          </a:p>
          <a:p>
            <a:pPr indent="-32766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b="1" lang="en-US"/>
              <a:t>DO NOT</a:t>
            </a:r>
            <a:r>
              <a:rPr lang="en-US"/>
              <a:t> add me!</a:t>
            </a:r>
            <a:endParaRPr/>
          </a:p>
          <a:p>
            <a:pPr indent="-36195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Form study groups</a:t>
            </a:r>
            <a:endParaRPr/>
          </a:p>
        </p:txBody>
      </p:sp>
      <p:sp>
        <p:nvSpPr>
          <p:cNvPr id="196" name="Google Shape;196;p1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1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Counselling Hours and Communication</a:t>
            </a:r>
            <a:endParaRPr/>
          </a:p>
        </p:txBody>
      </p:sp>
      <p:sp>
        <p:nvSpPr>
          <p:cNvPr id="198" name="Google Shape;198;p1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199" name="Google Shape;199;p1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>
            <p:ph idx="1" type="body"/>
          </p:nvPr>
        </p:nvSpPr>
        <p:spPr>
          <a:xfrm>
            <a:off x="838200" y="1227910"/>
            <a:ext cx="10515600" cy="428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9525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sz="4000" u="sng">
                <a:solidFill>
                  <a:schemeClr val="hlink"/>
                </a:solidFill>
                <a:hlinkClick r:id="rId3"/>
              </a:rPr>
              <a:t>University Profile</a:t>
            </a:r>
            <a:endParaRPr sz="4000" u="sng">
              <a:solidFill>
                <a:schemeClr val="hlink"/>
              </a:solidFill>
            </a:endParaRPr>
          </a:p>
          <a:p>
            <a:pPr indent="0" lvl="0" marL="9525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4000" u="sng">
              <a:solidFill>
                <a:schemeClr val="hlink"/>
              </a:solidFill>
            </a:endParaRPr>
          </a:p>
          <a:p>
            <a:pPr indent="0" lvl="0" marL="9525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 sz="4000" u="sng">
                <a:solidFill>
                  <a:schemeClr val="hlink"/>
                </a:solidFill>
                <a:hlinkClick r:id="rId4"/>
              </a:rPr>
              <a:t>Google Scholar Profile</a:t>
            </a:r>
            <a:endParaRPr sz="4000"/>
          </a:p>
        </p:txBody>
      </p:sp>
      <p:sp>
        <p:nvSpPr>
          <p:cNvPr id="205" name="Google Shape;205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Bit About The Course Teacher</a:t>
            </a:r>
            <a:endParaRPr/>
          </a:p>
        </p:txBody>
      </p:sp>
      <p:sp>
        <p:nvSpPr>
          <p:cNvPr id="207" name="Google Shape;207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08" name="Google Shape;208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pic>
        <p:nvPicPr>
          <p:cNvPr descr="Google Scholar Logo Icons for Academic Research" id="209" name="Google Shape;2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5749" y="3749699"/>
            <a:ext cx="819346" cy="819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ted International University (UIU) - TBS Admission Fair" id="210" name="Google Shape;210;p10"/>
          <p:cNvPicPr preferRelativeResize="0"/>
          <p:nvPr/>
        </p:nvPicPr>
        <p:blipFill rotWithShape="1">
          <a:blip r:embed="rId6">
            <a:alphaModFix/>
          </a:blip>
          <a:srcRect b="24255" l="23372" r="21413" t="20530"/>
          <a:stretch/>
        </p:blipFill>
        <p:spPr>
          <a:xfrm>
            <a:off x="3374796" y="2356701"/>
            <a:ext cx="819346" cy="819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16" name="Google Shape;216;p1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1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Start Making Friends</a:t>
            </a:r>
            <a:endParaRPr/>
          </a:p>
        </p:txBody>
      </p:sp>
      <p:pic>
        <p:nvPicPr>
          <p:cNvPr descr="New Friends GIFs | Tenor" id="218" name="Google Shape;218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1349" y="1227909"/>
            <a:ext cx="3849302" cy="384930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48"/>
          <p:cNvSpPr/>
          <p:nvPr/>
        </p:nvSpPr>
        <p:spPr>
          <a:xfrm>
            <a:off x="1136950" y="5341844"/>
            <a:ext cx="99181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MUST ENSURE IT BY TODAY!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21" name="Google Shape;221;p1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Make your groups very carefully.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Internal conflicts of the group will </a:t>
            </a:r>
            <a:r>
              <a:rPr b="1" lang="en-US"/>
              <a:t>NOT be handled</a:t>
            </a:r>
            <a:r>
              <a:rPr lang="en-US"/>
              <a:t> by the course teacher.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Viva (or quiz) will ensure that your efforts are rewarded</a:t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7" name="Google Shape;227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28" name="Google Shape;228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9" name="Google Shape;229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Start Making Friends</a:t>
            </a:r>
            <a:endParaRPr/>
          </a:p>
        </p:txBody>
      </p:sp>
      <p:grpSp>
        <p:nvGrpSpPr>
          <p:cNvPr id="231" name="Google Shape;231;p3"/>
          <p:cNvGrpSpPr/>
          <p:nvPr/>
        </p:nvGrpSpPr>
        <p:grpSpPr>
          <a:xfrm>
            <a:off x="4317083" y="3583980"/>
            <a:ext cx="3557833" cy="3274020"/>
            <a:chOff x="1623060" y="3086823"/>
            <a:chExt cx="3557833" cy="3274020"/>
          </a:xfrm>
        </p:grpSpPr>
        <p:sp>
          <p:nvSpPr>
            <p:cNvPr id="232" name="Google Shape;232;p3"/>
            <p:cNvSpPr/>
            <p:nvPr/>
          </p:nvSpPr>
          <p:spPr>
            <a:xfrm>
              <a:off x="1623060" y="3086823"/>
              <a:ext cx="3557833" cy="327402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3" name="Google Shape;233;p3"/>
            <p:cNvGrpSpPr/>
            <p:nvPr/>
          </p:nvGrpSpPr>
          <p:grpSpPr>
            <a:xfrm>
              <a:off x="1729741" y="3095784"/>
              <a:ext cx="3451152" cy="3173119"/>
              <a:chOff x="4138365" y="2283432"/>
              <a:chExt cx="3557833" cy="3372583"/>
            </a:xfrm>
          </p:grpSpPr>
          <p:pic>
            <p:nvPicPr>
              <p:cNvPr descr="Me and my sibling in front of parents in front of relatives.. Type Text |  @dhanista | Memes" id="234" name="Google Shape;234;p3"/>
              <p:cNvPicPr preferRelativeResize="0"/>
              <p:nvPr/>
            </p:nvPicPr>
            <p:blipFill rotWithShape="1">
              <a:blip r:embed="rId3">
                <a:alphaModFix/>
              </a:blip>
              <a:srcRect b="9828" l="4894" r="0" t="18006"/>
              <a:stretch/>
            </p:blipFill>
            <p:spPr>
              <a:xfrm>
                <a:off x="4138365" y="2283432"/>
                <a:ext cx="3557833" cy="33725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3"/>
              <p:cNvSpPr/>
              <p:nvPr/>
            </p:nvSpPr>
            <p:spPr>
              <a:xfrm>
                <a:off x="4138365" y="2407919"/>
                <a:ext cx="1677973" cy="1683313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3"/>
              <p:cNvSpPr/>
              <p:nvPr/>
            </p:nvSpPr>
            <p:spPr>
              <a:xfrm>
                <a:off x="4138365" y="4130658"/>
                <a:ext cx="1677973" cy="1499433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7" name="Google Shape;237;p3"/>
            <p:cNvSpPr txBox="1"/>
            <p:nvPr/>
          </p:nvSpPr>
          <p:spPr>
            <a:xfrm>
              <a:off x="1710795" y="3750415"/>
              <a:ext cx="16466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During group work</a:t>
              </a:r>
              <a:endParaRPr/>
            </a:p>
          </p:txBody>
        </p:sp>
        <p:sp>
          <p:nvSpPr>
            <p:cNvPr id="238" name="Google Shape;238;p3"/>
            <p:cNvSpPr txBox="1"/>
            <p:nvPr/>
          </p:nvSpPr>
          <p:spPr>
            <a:xfrm>
              <a:off x="1720267" y="5334172"/>
              <a:ext cx="174599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During presentation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 front of faculty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HTML</a:t>
            </a:r>
            <a:endParaRPr/>
          </a:p>
        </p:txBody>
      </p:sp>
      <p:sp>
        <p:nvSpPr>
          <p:cNvPr id="244" name="Google Shape;244;p14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Hypertext Markup Language</a:t>
            </a:r>
            <a:endParaRPr/>
          </a:p>
        </p:txBody>
      </p:sp>
      <p:sp>
        <p:nvSpPr>
          <p:cNvPr id="245" name="Google Shape;245;p1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46" name="Google Shape;246;p1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7" name="Google Shape;247;p1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lang="en-US"/>
              <a:t>Hyper Text Mark Up Language</a:t>
            </a:r>
            <a:endParaRPr/>
          </a:p>
          <a:p>
            <a:pPr indent="-457200" lvl="0" marL="5524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/>
              <a:t>It is a </a:t>
            </a:r>
            <a:r>
              <a:rPr b="1" lang="en-US"/>
              <a:t>coding</a:t>
            </a:r>
            <a:r>
              <a:rPr lang="en-US"/>
              <a:t> language</a:t>
            </a:r>
            <a:endParaRPr/>
          </a:p>
          <a:p>
            <a:pPr indent="-457200" lvl="0" marL="5524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US"/>
              <a:t>Not</a:t>
            </a:r>
            <a:r>
              <a:rPr lang="en-US"/>
              <a:t> a programming language</a:t>
            </a:r>
            <a:endParaRPr/>
          </a:p>
          <a:p>
            <a:pPr indent="-457200" lvl="0" marL="5524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/>
              <a:t>Rather a mark up language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Hypertext</a:t>
            </a:r>
            <a:r>
              <a:rPr lang="en-US"/>
              <a:t> - Text that can connect you to other pages</a:t>
            </a:r>
            <a:endParaRPr/>
          </a:p>
          <a:p>
            <a:pPr indent="0" lvl="0" marL="952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</a:pPr>
            <a:r>
              <a:rPr b="1" lang="en-US"/>
              <a:t>Markup </a:t>
            </a:r>
            <a:r>
              <a:rPr lang="en-US"/>
              <a:t>- </a:t>
            </a:r>
            <a:r>
              <a:rPr i="1" lang="en-US"/>
              <a:t>annotating</a:t>
            </a:r>
            <a:r>
              <a:rPr lang="en-US"/>
              <a:t> text (tags) to tell the computer </a:t>
            </a:r>
            <a:r>
              <a:rPr i="1" lang="en-US"/>
              <a:t>how it should look or behave</a:t>
            </a:r>
            <a:r>
              <a:rPr lang="en-US"/>
              <a:t>.</a:t>
            </a:r>
            <a:endParaRPr/>
          </a:p>
        </p:txBody>
      </p:sp>
      <p:sp>
        <p:nvSpPr>
          <p:cNvPr id="253" name="Google Shape;253;p1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What is HTML?</a:t>
            </a:r>
            <a:endParaRPr/>
          </a:p>
        </p:txBody>
      </p:sp>
      <p:sp>
        <p:nvSpPr>
          <p:cNvPr id="255" name="Google Shape;255;p1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56" name="Google Shape;256;p1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1"/>
          <p:cNvSpPr txBox="1"/>
          <p:nvPr>
            <p:ph idx="1" type="body"/>
          </p:nvPr>
        </p:nvSpPr>
        <p:spPr>
          <a:xfrm>
            <a:off x="838200" y="1227909"/>
            <a:ext cx="5328920" cy="494905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 special type of file with html tags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Ends with the extension </a:t>
            </a:r>
            <a:r>
              <a:rPr b="1" lang="en-US"/>
              <a:t>.html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An </a:t>
            </a:r>
            <a:r>
              <a:rPr b="1" lang="en-US"/>
              <a:t>editor</a:t>
            </a:r>
            <a:r>
              <a:rPr lang="en-US"/>
              <a:t> is needed to edit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 </a:t>
            </a:r>
            <a:r>
              <a:rPr b="1" lang="en-US"/>
              <a:t>browser</a:t>
            </a:r>
            <a:r>
              <a:rPr lang="en-US"/>
              <a:t> is needed to render it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solidFill>
                  <a:srgbClr val="FF0000"/>
                </a:solidFill>
              </a:rPr>
              <a:t>Let’s make a small </a:t>
            </a:r>
            <a:r>
              <a:rPr b="1" lang="en-US">
                <a:solidFill>
                  <a:srgbClr val="FF0000"/>
                </a:solidFill>
              </a:rPr>
              <a:t>html file </a:t>
            </a:r>
            <a:r>
              <a:rPr lang="en-US">
                <a:solidFill>
                  <a:srgbClr val="FF0000"/>
                </a:solidFill>
              </a:rPr>
              <a:t>now!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62" name="Google Shape;262;p1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15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HTML file</a:t>
            </a:r>
            <a:endParaRPr/>
          </a:p>
        </p:txBody>
      </p:sp>
      <p:sp>
        <p:nvSpPr>
          <p:cNvPr id="264" name="Google Shape;264;p151"/>
          <p:cNvSpPr txBox="1"/>
          <p:nvPr/>
        </p:nvSpPr>
        <p:spPr>
          <a:xfrm>
            <a:off x="6685280" y="1341120"/>
            <a:ext cx="4480560" cy="267761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&lt;!DOCTYPE html&gt;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&lt;meta charset = “UTF8”&gt;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&lt;title&gt;My First Page&lt;/title&gt;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&lt;h1&gt;Hello, World!&lt;/h1&gt;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&lt;p&gt;This is my first HTML page.&lt;/p&gt;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51"/>
          <p:cNvSpPr txBox="1"/>
          <p:nvPr/>
        </p:nvSpPr>
        <p:spPr>
          <a:xfrm>
            <a:off x="6685280" y="4344640"/>
            <a:ext cx="5110480" cy="1384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&lt;!DOCTYPE html&gt;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tells the browser it’s an HTML5 document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&lt;html&gt;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wraps the whole page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&lt;head&gt;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holds the page title and meta data (not shown on the page itself)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&lt;body&gt;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holds the visible content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&lt;h1&gt;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heading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&lt;p&gt;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paragraph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51"/>
          <p:cNvSpPr txBox="1"/>
          <p:nvPr/>
        </p:nvSpPr>
        <p:spPr>
          <a:xfrm>
            <a:off x="9253604" y="2215093"/>
            <a:ext cx="109998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Paired 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51"/>
          <p:cNvSpPr txBox="1"/>
          <p:nvPr/>
        </p:nvSpPr>
        <p:spPr>
          <a:xfrm>
            <a:off x="9240520" y="1907316"/>
            <a:ext cx="15856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Self Closing Tag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OM-Tree1.webp" id="268" name="Google Shape;268;p151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70" name="Google Shape;270;p1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6"/>
          <p:cNvSpPr txBox="1"/>
          <p:nvPr>
            <p:ph idx="1" type="body"/>
          </p:nvPr>
        </p:nvSpPr>
        <p:spPr>
          <a:xfrm>
            <a:off x="386080" y="904240"/>
            <a:ext cx="10967720" cy="5272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 sz="2000"/>
              <a:t>The </a:t>
            </a:r>
            <a:r>
              <a:rPr b="1" lang="en-US" sz="2000"/>
              <a:t>Document Object Model (DOM) </a:t>
            </a:r>
            <a:r>
              <a:rPr lang="en-US" sz="2000"/>
              <a:t>is a tree-like structure that the browser creates from the HTML code written by developers to represent the structure of a webpage.</a:t>
            </a:r>
            <a:endParaRPr/>
          </a:p>
        </p:txBody>
      </p:sp>
      <p:sp>
        <p:nvSpPr>
          <p:cNvPr id="276" name="Google Shape;276;p1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15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 sz="3600"/>
              <a:t>HTML follows the Document Object Model (DOM)</a:t>
            </a:r>
            <a:endParaRPr/>
          </a:p>
        </p:txBody>
      </p:sp>
      <p:pic>
        <p:nvPicPr>
          <p:cNvPr id="278" name="Google Shape;278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58" y="1903698"/>
            <a:ext cx="6939281" cy="4589177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6"/>
          <p:cNvSpPr/>
          <p:nvPr/>
        </p:nvSpPr>
        <p:spPr>
          <a:xfrm>
            <a:off x="8100916" y="3105834"/>
            <a:ext cx="376256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this tree like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follow whilst writing code,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browser can easily understand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element is to be placed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which element.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81" name="Google Shape;281;p1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Throughout history, since 1990, HTML has evolved rapidly.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Currently we are using the 5</a:t>
            </a:r>
            <a:r>
              <a:rPr baseline="30000" lang="en-US"/>
              <a:t>th</a:t>
            </a:r>
            <a:r>
              <a:rPr lang="en-US"/>
              <a:t> version</a:t>
            </a:r>
            <a:endParaRPr/>
          </a:p>
        </p:txBody>
      </p:sp>
      <p:sp>
        <p:nvSpPr>
          <p:cNvPr id="287" name="Google Shape;287;p1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1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brief history of HTML </a:t>
            </a:r>
            <a:endParaRPr/>
          </a:p>
        </p:txBody>
      </p:sp>
      <p:sp>
        <p:nvSpPr>
          <p:cNvPr id="289" name="Google Shape;289;p1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290" name="Google Shape;290;p1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15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 brief history of HTML </a:t>
            </a:r>
            <a:endParaRPr/>
          </a:p>
        </p:txBody>
      </p:sp>
      <p:grpSp>
        <p:nvGrpSpPr>
          <p:cNvPr id="297" name="Google Shape;297;p153"/>
          <p:cNvGrpSpPr/>
          <p:nvPr/>
        </p:nvGrpSpPr>
        <p:grpSpPr>
          <a:xfrm>
            <a:off x="1046747" y="3220772"/>
            <a:ext cx="10515600" cy="963328"/>
            <a:chOff x="609600" y="2755226"/>
            <a:chExt cx="13182855" cy="1347542"/>
          </a:xfrm>
        </p:grpSpPr>
        <p:sp>
          <p:nvSpPr>
            <p:cNvPr id="298" name="Google Shape;298;p153"/>
            <p:cNvSpPr/>
            <p:nvPr/>
          </p:nvSpPr>
          <p:spPr>
            <a:xfrm>
              <a:off x="609600" y="2755231"/>
              <a:ext cx="2358189" cy="1347537"/>
            </a:xfrm>
            <a:prstGeom prst="homePlate">
              <a:avLst>
                <a:gd fmla="val 50000" name="adj"/>
              </a:avLst>
            </a:prstGeom>
            <a:solidFill>
              <a:srgbClr val="DDEAF6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53"/>
            <p:cNvSpPr/>
            <p:nvPr/>
          </p:nvSpPr>
          <p:spPr>
            <a:xfrm>
              <a:off x="2484520" y="2755231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BBD6EE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53"/>
            <p:cNvSpPr/>
            <p:nvPr/>
          </p:nvSpPr>
          <p:spPr>
            <a:xfrm>
              <a:off x="4289257" y="2755230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9CC2E5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53"/>
            <p:cNvSpPr/>
            <p:nvPr/>
          </p:nvSpPr>
          <p:spPr>
            <a:xfrm>
              <a:off x="6093994" y="2755229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2E75B5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1997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53"/>
            <p:cNvSpPr/>
            <p:nvPr/>
          </p:nvSpPr>
          <p:spPr>
            <a:xfrm>
              <a:off x="7898731" y="2755228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1E4E79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1999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53"/>
            <p:cNvSpPr/>
            <p:nvPr/>
          </p:nvSpPr>
          <p:spPr>
            <a:xfrm>
              <a:off x="9703468" y="2755227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00206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53"/>
            <p:cNvSpPr/>
            <p:nvPr/>
          </p:nvSpPr>
          <p:spPr>
            <a:xfrm>
              <a:off x="11508205" y="2755226"/>
              <a:ext cx="2284250" cy="1347537"/>
            </a:xfrm>
            <a:prstGeom prst="chevron">
              <a:avLst>
                <a:gd fmla="val 50000" name="adj"/>
              </a:avLst>
            </a:prstGeom>
            <a:solidFill>
              <a:srgbClr val="1F3864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2014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5" name="Google Shape;305;p153"/>
          <p:cNvSpPr txBox="1"/>
          <p:nvPr/>
        </p:nvSpPr>
        <p:spPr>
          <a:xfrm>
            <a:off x="207014" y="5085440"/>
            <a:ext cx="3078866" cy="1384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(1990)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 by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 Berners-Lee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 CERN.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to link research papers.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only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colors or images.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Worked on any computer system.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153"/>
          <p:cNvCxnSpPr>
            <a:stCxn id="305" idx="0"/>
            <a:endCxn id="298" idx="2"/>
          </p:cNvCxnSpPr>
          <p:nvPr/>
        </p:nvCxnSpPr>
        <p:spPr>
          <a:xfrm rot="10800000">
            <a:off x="1746447" y="4184240"/>
            <a:ext cx="0" cy="901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" name="Google Shape;307;p153"/>
          <p:cNvSpPr txBox="1"/>
          <p:nvPr/>
        </p:nvSpPr>
        <p:spPr>
          <a:xfrm>
            <a:off x="1673097" y="1116280"/>
            <a:ext cx="3078866" cy="1384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Mosaic Browser (1993)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graphical browser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(by Marc Andreessen).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Could show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and images together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Made the web popular.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53"/>
          <p:cNvCxnSpPr>
            <a:stCxn id="307" idx="2"/>
            <a:endCxn id="299" idx="0"/>
          </p:cNvCxnSpPr>
          <p:nvPr/>
        </p:nvCxnSpPr>
        <p:spPr>
          <a:xfrm>
            <a:off x="3212530" y="2501275"/>
            <a:ext cx="0" cy="7194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" name="Google Shape;309;p153"/>
          <p:cNvSpPr txBox="1"/>
          <p:nvPr/>
        </p:nvSpPr>
        <p:spPr>
          <a:xfrm>
            <a:off x="3583971" y="5085440"/>
            <a:ext cx="2365416" cy="116955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2.0 (1995)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official standard by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IETF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better 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153"/>
          <p:cNvCxnSpPr>
            <a:stCxn id="309" idx="0"/>
          </p:cNvCxnSpPr>
          <p:nvPr/>
        </p:nvCxnSpPr>
        <p:spPr>
          <a:xfrm rot="10800000">
            <a:off x="4751979" y="4184240"/>
            <a:ext cx="14700" cy="9012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" name="Google Shape;311;p153"/>
          <p:cNvSpPr txBox="1"/>
          <p:nvPr/>
        </p:nvSpPr>
        <p:spPr>
          <a:xfrm>
            <a:off x="4945192" y="1298447"/>
            <a:ext cx="2301665" cy="95410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3.2 (1997)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Managed by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W3C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153"/>
          <p:cNvCxnSpPr>
            <a:stCxn id="311" idx="2"/>
            <a:endCxn id="301" idx="0"/>
          </p:cNvCxnSpPr>
          <p:nvPr/>
        </p:nvCxnSpPr>
        <p:spPr>
          <a:xfrm flipH="1">
            <a:off x="6091825" y="2252554"/>
            <a:ext cx="4200" cy="9681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" name="Google Shape;313;p153"/>
          <p:cNvSpPr txBox="1"/>
          <p:nvPr/>
        </p:nvSpPr>
        <p:spPr>
          <a:xfrm>
            <a:off x="6332538" y="5107880"/>
            <a:ext cx="2365416" cy="13849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4.01 (1999)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 and accessibility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Encouraged separating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(HTML)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 (CSS)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53"/>
          <p:cNvCxnSpPr>
            <a:stCxn id="313" idx="0"/>
            <a:endCxn id="302" idx="2"/>
          </p:cNvCxnSpPr>
          <p:nvPr/>
        </p:nvCxnSpPr>
        <p:spPr>
          <a:xfrm flipH="1" rot="10800000">
            <a:off x="7515246" y="4184180"/>
            <a:ext cx="16200" cy="9237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53"/>
          <p:cNvSpPr txBox="1"/>
          <p:nvPr/>
        </p:nvSpPr>
        <p:spPr>
          <a:xfrm>
            <a:off x="8063121" y="1039765"/>
            <a:ext cx="1822084" cy="18158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XHTML 1.0 (2000)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Stricter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version of HTML based on XML.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Required well-formed code.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strict for many developers.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53"/>
          <p:cNvCxnSpPr>
            <a:stCxn id="315" idx="2"/>
            <a:endCxn id="303" idx="0"/>
          </p:cNvCxnSpPr>
          <p:nvPr/>
        </p:nvCxnSpPr>
        <p:spPr>
          <a:xfrm flipH="1">
            <a:off x="8970863" y="2855647"/>
            <a:ext cx="3300" cy="3651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53"/>
          <p:cNvSpPr txBox="1"/>
          <p:nvPr/>
        </p:nvSpPr>
        <p:spPr>
          <a:xfrm>
            <a:off x="9226501" y="4463185"/>
            <a:ext cx="2365416" cy="224676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HTML5 (2014) 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version for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multimedia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 new tags like &lt;header&gt;, &lt;section&gt;, &lt;video&gt;, &lt;audio&gt;.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APIs, offline apps, and graphics.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 the current 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53"/>
          <p:cNvCxnSpPr>
            <a:stCxn id="317" idx="0"/>
            <a:endCxn id="304" idx="2"/>
          </p:cNvCxnSpPr>
          <p:nvPr/>
        </p:nvCxnSpPr>
        <p:spPr>
          <a:xfrm flipH="1" rot="10800000">
            <a:off x="10409209" y="4184185"/>
            <a:ext cx="1200" cy="279000"/>
          </a:xfrm>
          <a:prstGeom prst="straightConnector1">
            <a:avLst/>
          </a:prstGeom>
          <a:noFill/>
          <a:ln cap="flat" cmpd="sng" w="9525">
            <a:solidFill>
              <a:srgbClr val="5597D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" name="Google Shape;319;p1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20" name="Google Shape;320;p1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4"/>
          <p:cNvSpPr txBox="1"/>
          <p:nvPr>
            <p:ph idx="1" type="body"/>
          </p:nvPr>
        </p:nvSpPr>
        <p:spPr>
          <a:xfrm>
            <a:off x="838200" y="994611"/>
            <a:ext cx="10515600" cy="518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- https://www.uiu.ac.bd</a:t>
            </a:r>
            <a:endParaRPr/>
          </a:p>
        </p:txBody>
      </p:sp>
      <p:sp>
        <p:nvSpPr>
          <p:cNvPr id="326" name="Google Shape;326;p1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1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How a page request works?</a:t>
            </a:r>
            <a:endParaRPr/>
          </a:p>
        </p:txBody>
      </p:sp>
      <p:graphicFrame>
        <p:nvGraphicFramePr>
          <p:cNvPr id="328" name="Google Shape;328;p154"/>
          <p:cNvGraphicFramePr/>
          <p:nvPr/>
        </p:nvGraphicFramePr>
        <p:xfrm>
          <a:off x="838200" y="17376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{1CCB966B-8E1F-416F-8144-ACF597E7866B}</a:tableStyleId>
              </a:tblPr>
              <a:tblGrid>
                <a:gridCol w="3505200"/>
                <a:gridCol w="3505200"/>
                <a:gridCol w="3505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Part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Example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Details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Protocol / Scheme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https://</a:t>
                      </a:r>
                      <a:r>
                        <a:rPr lang="en-US" sz="1800" u="none" cap="none" strike="noStrike"/>
                        <a:t>, http://, ftp://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This tells the browser </a:t>
                      </a:r>
                      <a:r>
                        <a:rPr b="1" lang="en-US" sz="1800" u="none" cap="none" strike="noStrike"/>
                        <a:t>how</a:t>
                      </a:r>
                      <a:r>
                        <a:rPr lang="en-US" sz="1800" u="none" cap="none" strike="noStrike"/>
                        <a:t> to access the resource. </a:t>
                      </a:r>
                      <a:br>
                        <a:rPr lang="en-US" sz="1800" u="none" cap="none" strike="noStrike"/>
                      </a:b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Subdomain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www.</a:t>
                      </a:r>
                      <a:r>
                        <a:rPr lang="en-US" sz="1800" u="none" cap="none" strike="noStrike"/>
                        <a:t> , mail. , news.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Prefix – purpose of the site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Domain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uiu</a:t>
                      </a:r>
                      <a:r>
                        <a:rPr lang="en-US" sz="1800" u="none" cap="none" strike="noStrike"/>
                        <a:t>,  google, mist,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This is the </a:t>
                      </a:r>
                      <a:r>
                        <a:rPr b="1" lang="en-US" sz="1800" u="none" cap="none" strike="noStrike"/>
                        <a:t>main website name</a:t>
                      </a:r>
                      <a:r>
                        <a:rPr lang="en-US" sz="1800" u="none" cap="none" strike="noStrike"/>
                        <a:t> (here, United International University).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Top-Level Domain (TLD)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.ac.bd , </a:t>
                      </a:r>
                      <a:r>
                        <a:rPr b="0" lang="en-US" sz="1800" u="none" cap="none" strike="noStrike"/>
                        <a:t>.gov.bd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This shows the </a:t>
                      </a:r>
                      <a:r>
                        <a:rPr b="1" lang="en-US" sz="1800" u="none" cap="none" strike="noStrike"/>
                        <a:t>type and country</a:t>
                      </a:r>
                      <a:r>
                        <a:rPr lang="en-US" sz="1800" u="none" cap="none" strike="noStrike"/>
                        <a:t>: 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ac → academic or university, </a:t>
                      </a:r>
                      <a:br>
                        <a:rPr lang="en-US" sz="1800" u="none" cap="none" strike="noStrike"/>
                      </a:br>
                      <a:r>
                        <a:rPr lang="en-US" sz="1800" u="none" cap="none" strike="noStrike"/>
                        <a:t>bd → Bangladesh (country code).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Document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index.html</a:t>
                      </a:r>
                      <a:r>
                        <a:rPr b="0" lang="en-US" sz="1800" u="none" cap="none" strike="noStrike"/>
                        <a:t>, a pdf file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800" u="none" cap="none" strike="noStrike"/>
                        <a:t>Some times automatically selected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9" name="Google Shape;329;p1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30" name="Google Shape;330;p1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5"/>
          <p:cNvSpPr txBox="1"/>
          <p:nvPr>
            <p:ph idx="1" type="body"/>
          </p:nvPr>
        </p:nvSpPr>
        <p:spPr>
          <a:xfrm>
            <a:off x="838200" y="752776"/>
            <a:ext cx="10515600" cy="5424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ct val="81081"/>
              <a:buFont typeface="Noto Sans Symbols"/>
              <a:buNone/>
            </a:pPr>
            <a:r>
              <a:t/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Font typeface="Arial"/>
              <a:buAutoNum type="arabicPeriod"/>
            </a:pPr>
            <a:r>
              <a:rPr lang="en-US"/>
              <a:t>The browser looks up the domain in the DNS (Domain Name System).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lang="en-US"/>
              <a:t>DNS returns the ip address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lang="en-US"/>
              <a:t>The browser sends the HTTP request to the server located at that address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lang="en-US"/>
              <a:t>The server finds the requested file(s) and sends it back</a:t>
            </a:r>
            <a:endParaRPr/>
          </a:p>
          <a:p>
            <a:pPr indent="-5143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AutoNum type="arabicPeriod"/>
            </a:pPr>
            <a:r>
              <a:rPr lang="en-US"/>
              <a:t>The browser takes this response and renders it graphically (can make more requests whilst rendering)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None/>
            </a:pPr>
            <a:r>
              <a:rPr lang="en-US"/>
              <a:t>- Can we see all the files that are sent to us? (YES!)</a:t>
            </a:r>
            <a:endParaRPr/>
          </a:p>
          <a:p>
            <a:pPr indent="-361950" lvl="0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81081"/>
              <a:buNone/>
            </a:pPr>
            <a:r>
              <a:t/>
            </a:r>
            <a:endParaRPr/>
          </a:p>
        </p:txBody>
      </p:sp>
      <p:sp>
        <p:nvSpPr>
          <p:cNvPr id="336" name="Google Shape;336;p1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15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How a page request works?</a:t>
            </a:r>
            <a:endParaRPr/>
          </a:p>
        </p:txBody>
      </p:sp>
      <p:sp>
        <p:nvSpPr>
          <p:cNvPr id="338" name="Google Shape;338;p1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39" name="Google Shape;339;p1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The Live Server</a:t>
            </a:r>
            <a:endParaRPr/>
          </a:p>
        </p:txBody>
      </p:sp>
      <p:sp>
        <p:nvSpPr>
          <p:cNvPr id="345" name="Google Shape;34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46" name="Google Shape;346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47" name="Google Shape;347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48" name="Google Shape;348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"/>
          <p:cNvSpPr txBox="1"/>
          <p:nvPr>
            <p:ph idx="1" type="body"/>
          </p:nvPr>
        </p:nvSpPr>
        <p:spPr>
          <a:xfrm>
            <a:off x="838200" y="1417320"/>
            <a:ext cx="10515600" cy="47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Download and install this extension in vscode.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It will make the coding process more efficient</a:t>
            </a:r>
            <a:endParaRPr/>
          </a:p>
        </p:txBody>
      </p:sp>
      <p:sp>
        <p:nvSpPr>
          <p:cNvPr id="354" name="Google Shape;35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Live Server</a:t>
            </a:r>
            <a:endParaRPr/>
          </a:p>
        </p:txBody>
      </p:sp>
      <p:sp>
        <p:nvSpPr>
          <p:cNvPr id="356" name="Google Shape;356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57" name="Google Shape;357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pic>
        <p:nvPicPr>
          <p:cNvPr descr="How to install and use Live Server on Visual Studio Code [2024]" id="358" name="Google Shape;3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689" y="2876988"/>
            <a:ext cx="5866622" cy="329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HTML5 Tags and Syntax</a:t>
            </a:r>
            <a:endParaRPr/>
          </a:p>
        </p:txBody>
      </p:sp>
      <p:sp>
        <p:nvSpPr>
          <p:cNvPr id="364" name="Google Shape;364;p15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65" name="Google Shape;365;p1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66" name="Google Shape;366;p1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67" name="Google Shape;367;p1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8"/>
          <p:cNvSpPr txBox="1"/>
          <p:nvPr>
            <p:ph idx="1" type="body"/>
          </p:nvPr>
        </p:nvSpPr>
        <p:spPr>
          <a:xfrm>
            <a:off x="838200" y="1417320"/>
            <a:ext cx="10515600" cy="47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There are many!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But we will cover all the important ones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can classify the tags as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Block tags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Inline tags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We can also classify the tags as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Self closing tags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Paired tags</a:t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73" name="Google Shape;373;p15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4" name="Google Shape;374;p15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Different HTML Tags</a:t>
            </a:r>
            <a:endParaRPr/>
          </a:p>
        </p:txBody>
      </p:sp>
      <p:sp>
        <p:nvSpPr>
          <p:cNvPr id="375" name="Google Shape;375;p15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76" name="Google Shape;376;p15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5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5715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b="1" lang="en-US" sz="2400"/>
              <a:t>Block</a:t>
            </a:r>
            <a:r>
              <a:rPr lang="en-US" sz="2400"/>
              <a:t> </a:t>
            </a:r>
            <a:r>
              <a:rPr b="1" lang="en-US" sz="2400"/>
              <a:t>tags</a:t>
            </a:r>
            <a:r>
              <a:rPr lang="en-US" sz="2400"/>
              <a:t> always start on a new line and take up the full width available.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&lt;div&gt; — generic container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&lt;p&gt; — paragraph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&lt;h1&gt; to &lt;h6&gt; — headings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&lt;header&gt; — page or section header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&lt;footer&gt; — page or section footer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&lt;section&gt; — defines a section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&lt;article&gt; — self-contained content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&lt;nav&gt; — navigation links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&lt;main&gt; — main content area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&lt;aside&gt; — sidebar content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&lt;ul&gt;, &lt;ol&gt; — lists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&lt;li&gt; — list item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&lt;table&gt; — table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ct val="98378"/>
              <a:buFont typeface="Arial"/>
              <a:buChar char="•"/>
            </a:pPr>
            <a:r>
              <a:rPr lang="en-US" sz="2000"/>
              <a:t>&lt;form&gt; — form container</a:t>
            </a:r>
            <a:endParaRPr/>
          </a:p>
          <a:p>
            <a:pPr indent="-190500" lvl="0" marL="5715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382" name="Google Shape;382;p15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3" name="Google Shape;383;p15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Block Tags and Inline Tags</a:t>
            </a:r>
            <a:endParaRPr/>
          </a:p>
        </p:txBody>
      </p:sp>
      <p:sp>
        <p:nvSpPr>
          <p:cNvPr id="384" name="Google Shape;384;p15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85" name="Google Shape;385;p15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5715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 sz="2400"/>
              <a:t>Inline</a:t>
            </a:r>
            <a:r>
              <a:rPr lang="en-US" sz="2400"/>
              <a:t> </a:t>
            </a:r>
            <a:r>
              <a:rPr b="1" lang="en-US" sz="2400"/>
              <a:t>tags</a:t>
            </a:r>
            <a:r>
              <a:rPr lang="en-US" sz="2400"/>
              <a:t> do not start on a new line — they appear within text flow.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&lt;span&gt; — generic inline container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&lt;a&gt; — hyperlink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&lt;img&gt; — image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&lt;strong&gt; — bold (important text)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&lt;em&gt; — italic (emphasized text)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&lt;b&gt; — bold text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&lt;i&gt; — italic text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&lt;u&gt; — underlined text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&lt;small&gt; — smaller text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&lt;br&gt; — line break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&lt;label&gt; — form label</a:t>
            </a:r>
            <a:endParaRPr/>
          </a:p>
          <a:p>
            <a:pPr indent="-342900" lvl="1" marL="10287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000"/>
              <a:t>&lt;input&gt; — input field</a:t>
            </a:r>
            <a:endParaRPr/>
          </a:p>
          <a:p>
            <a:pPr indent="-190500" lvl="0" marL="5715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sp>
        <p:nvSpPr>
          <p:cNvPr id="391" name="Google Shape;391;p16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16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Block Tags and Inline Tags</a:t>
            </a:r>
            <a:endParaRPr/>
          </a:p>
        </p:txBody>
      </p:sp>
      <p:sp>
        <p:nvSpPr>
          <p:cNvPr id="393" name="Google Shape;393;p16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394" name="Google Shape;394;p16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Paired tags </a:t>
            </a:r>
            <a:r>
              <a:rPr lang="en-US"/>
              <a:t>– also called container tags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These have both an opening and a closing tag.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Used when the element has content inside it.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&lt;p&gt;This is a paragraph.&lt;/p&gt;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&lt;h1&gt;Heading&lt;/h1&gt;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Self-Closing (or Void) Tags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These don’t have a closing tag because they don’t contain content.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They just perform an action or display something on their own.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&lt;img src="photo.jpg" alt="My Photo"&gt;</a:t>
            </a:r>
            <a:endParaRPr/>
          </a:p>
          <a:p>
            <a:pPr indent="-457200" lvl="2" marL="1600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Font typeface="Arial"/>
              <a:buChar char="•"/>
            </a:pPr>
            <a:r>
              <a:rPr lang="en-US"/>
              <a:t>&lt;br&gt;</a:t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00" name="Google Shape;400;p16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16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Self closing tags and paired tags</a:t>
            </a:r>
            <a:endParaRPr/>
          </a:p>
        </p:txBody>
      </p:sp>
      <p:sp>
        <p:nvSpPr>
          <p:cNvPr id="402" name="Google Shape;402;p16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03" name="Google Shape;403;p16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Examples of </a:t>
            </a:r>
            <a:r>
              <a:rPr b="1" lang="en-US"/>
              <a:t>non-semantic</a:t>
            </a:r>
            <a:r>
              <a:rPr lang="en-US"/>
              <a:t> elements/tags: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&lt;div&gt; and &lt;span&gt;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Tells nothing about its content.</a:t>
            </a:r>
            <a:endParaRPr/>
          </a:p>
          <a:p>
            <a:pPr indent="-3048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None/>
            </a:pPr>
            <a:r>
              <a:t/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Examples of </a:t>
            </a:r>
            <a:r>
              <a:rPr b="1" lang="en-US"/>
              <a:t>semantic</a:t>
            </a:r>
            <a:r>
              <a:rPr lang="en-US"/>
              <a:t> elements/tags: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&lt;img&gt;, &lt;table&gt;, and &lt;article&gt;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/>
              <a:t>Clearly defines its content.</a:t>
            </a:r>
            <a:endParaRPr/>
          </a:p>
        </p:txBody>
      </p:sp>
      <p:sp>
        <p:nvSpPr>
          <p:cNvPr id="409" name="Google Shape;409;p16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16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Semantic Tags and Non Semantic Tags</a:t>
            </a:r>
            <a:endParaRPr/>
          </a:p>
        </p:txBody>
      </p:sp>
      <p:sp>
        <p:nvSpPr>
          <p:cNvPr id="411" name="Google Shape;411;p16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12" name="Google Shape;412;p16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&lt;body&gt;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Contains everything visible on the webpage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Comes after &lt;head&gt;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Attributes: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bgcolor → background color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text → text color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background → image as background</a:t>
            </a:r>
            <a:endParaRPr/>
          </a:p>
        </p:txBody>
      </p:sp>
      <p:sp>
        <p:nvSpPr>
          <p:cNvPr id="418" name="Google Shape;418;p16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16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20" name="Google Shape;42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416" y="2776537"/>
            <a:ext cx="4733925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6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22" name="Google Shape;422;p16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&lt;header&gt;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Appears at the top of a page or section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Usually contains logo, heading, or navigation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Type: Block element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 sz="2800"/>
          </a:p>
        </p:txBody>
      </p:sp>
      <p:sp>
        <p:nvSpPr>
          <p:cNvPr id="428" name="Google Shape;428;p16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16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30" name="Google Shape;430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1962" y="4014285"/>
            <a:ext cx="3648075" cy="11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6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32" name="Google Shape;432;p16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&lt;footer&gt;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Appears at the bottom of a page or section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Used for copyright, contact, or closing notes</a:t>
            </a:r>
            <a:endParaRPr/>
          </a:p>
        </p:txBody>
      </p:sp>
      <p:sp>
        <p:nvSpPr>
          <p:cNvPr id="438" name="Google Shape;438;p16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16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40" name="Google Shape;44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3702436"/>
            <a:ext cx="38100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6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42" name="Google Shape;442;p16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&lt;div&gt;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Used to group content or make sections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Type: Block-level container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Attributes: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id → unique name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width, height → size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bgcolor → background color (in older HTML)</a:t>
            </a:r>
            <a:endParaRPr/>
          </a:p>
        </p:txBody>
      </p:sp>
      <p:sp>
        <p:nvSpPr>
          <p:cNvPr id="448" name="Google Shape;448;p16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9" name="Google Shape;449;p16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50" name="Google Shape;450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8450" y="5177653"/>
            <a:ext cx="6515100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6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52" name="Google Shape;452;p16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&lt;ol&gt; (Ordered List)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Creates a numbered list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Attributes: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type → "1", "A", "a", "I", "i“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start → starting number</a:t>
            </a:r>
            <a:endParaRPr sz="2000"/>
          </a:p>
        </p:txBody>
      </p:sp>
      <p:sp>
        <p:nvSpPr>
          <p:cNvPr id="458" name="Google Shape;458;p16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16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60" name="Google Shape;460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1444" y="4309561"/>
            <a:ext cx="3067050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6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62" name="Google Shape;462;p16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&lt;ul&gt; (Unordered List)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Creates a bulleted list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Attribute: 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type → "disc", "circle", "square"</a:t>
            </a:r>
            <a:endParaRPr sz="1600"/>
          </a:p>
        </p:txBody>
      </p:sp>
      <p:sp>
        <p:nvSpPr>
          <p:cNvPr id="468" name="Google Shape;468;p16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16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70" name="Google Shape;470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225" y="4007018"/>
            <a:ext cx="2495550" cy="13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72" name="Google Shape;472;p16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6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&lt;img&gt;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Shows an image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Self-closing tag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Attributes: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src → image path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alt → alternate text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width, height → size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border → border size</a:t>
            </a:r>
            <a:endParaRPr sz="1200"/>
          </a:p>
        </p:txBody>
      </p:sp>
      <p:sp>
        <p:nvSpPr>
          <p:cNvPr id="478" name="Google Shape;478;p16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16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80" name="Google Shape;48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125" y="5414963"/>
            <a:ext cx="7905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6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82" name="Google Shape;482;p16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&lt;nav&gt;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Holds navigation links (menus)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Usually used with list items</a:t>
            </a:r>
            <a:endParaRPr sz="1200"/>
          </a:p>
        </p:txBody>
      </p:sp>
      <p:sp>
        <p:nvSpPr>
          <p:cNvPr id="488" name="Google Shape;488;p17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" name="Google Shape;489;p17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490" name="Google Shape;490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8537" y="3151522"/>
            <a:ext cx="5114925" cy="183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7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492" name="Google Shape;492;p17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&lt;figure&gt; and &lt;figcaption&gt;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Used to display image with a caption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&lt;figure&gt; is a container</a:t>
            </a:r>
            <a:endParaRPr sz="1200"/>
          </a:p>
        </p:txBody>
      </p:sp>
      <p:sp>
        <p:nvSpPr>
          <p:cNvPr id="498" name="Google Shape;498;p17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9" name="Google Shape;499;p17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pic>
        <p:nvPicPr>
          <p:cNvPr id="500" name="Google Shape;500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887" y="3702436"/>
            <a:ext cx="713422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7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02" name="Google Shape;502;p17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 sz="2800"/>
              <a:t>&lt;a&gt; — Hyperlinks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Creates clickable links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Absolute, relative, embedded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Images as links</a:t>
            </a:r>
            <a:endParaRPr/>
          </a:p>
          <a:p>
            <a:pPr indent="-457200" lvl="0" marL="685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800"/>
              <a:t>Attributes: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href → link or reference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target="_blank" → opens in new tab (by default it is _</a:t>
            </a:r>
            <a:r>
              <a:rPr b="1" lang="en-US" sz="2400"/>
              <a:t>self</a:t>
            </a:r>
            <a:r>
              <a:rPr lang="en-US" sz="2400"/>
              <a:t>)</a:t>
            </a:r>
            <a:endParaRPr/>
          </a:p>
          <a:p>
            <a:pPr indent="-45720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Char char="•"/>
            </a:pPr>
            <a:r>
              <a:rPr lang="en-US" sz="2400"/>
              <a:t>title → shows text when hovered</a:t>
            </a:r>
            <a:endParaRPr/>
          </a:p>
          <a:p>
            <a:pPr indent="-341630" lvl="1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Arial"/>
              <a:buNone/>
            </a:pPr>
            <a:r>
              <a:t/>
            </a:r>
            <a:endParaRPr sz="800"/>
          </a:p>
        </p:txBody>
      </p:sp>
      <p:sp>
        <p:nvSpPr>
          <p:cNvPr id="508" name="Google Shape;508;p17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17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Let’s Learn About Some Useful Tags</a:t>
            </a:r>
            <a:endParaRPr/>
          </a:p>
        </p:txBody>
      </p:sp>
      <p:sp>
        <p:nvSpPr>
          <p:cNvPr id="510" name="Google Shape;510;p17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11" name="Google Shape;511;p17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7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7" name="Google Shape;517;p17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Special Symbols</a:t>
            </a:r>
            <a:endParaRPr/>
          </a:p>
        </p:txBody>
      </p:sp>
      <p:graphicFrame>
        <p:nvGraphicFramePr>
          <p:cNvPr id="518" name="Google Shape;518;p173"/>
          <p:cNvGraphicFramePr/>
          <p:nvPr/>
        </p:nvGraphicFramePr>
        <p:xfrm>
          <a:off x="2658319" y="20344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{1CCB966B-8E1F-416F-8144-ACF597E7866B}</a:tableStyleId>
              </a:tblPr>
              <a:tblGrid>
                <a:gridCol w="2138675"/>
                <a:gridCol w="2138675"/>
                <a:gridCol w="2138675"/>
              </a:tblGrid>
              <a:tr h="154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Code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Shows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/>
                        <a:t>Meaning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&amp;lt;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&lt;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Less than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&amp;gt;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&gt;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Greater than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&amp;amp;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Ampersand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&amp;copy;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©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Copyright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&amp;nbsp;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Space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9" name="Google Shape;519;p17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20" name="Google Shape;520;p17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Tables can be constructed using the following tags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34290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1" lang="en-US"/>
              <a:t>&lt;table&gt; &lt;th&gt; &lt;td&gt; &lt;tr&gt;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   Note that all tags do not support color by default. However,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                  </a:t>
            </a:r>
            <a:r>
              <a:rPr b="1" lang="en-US"/>
              <a:t>we can use the style attribute (inline CSS)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							</a:t>
            </a:r>
            <a:endParaRPr/>
          </a:p>
        </p:txBody>
      </p:sp>
      <p:sp>
        <p:nvSpPr>
          <p:cNvPr id="526" name="Google Shape;526;p17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17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Table Tag and the Style Attribute</a:t>
            </a:r>
            <a:endParaRPr/>
          </a:p>
        </p:txBody>
      </p:sp>
      <p:sp>
        <p:nvSpPr>
          <p:cNvPr id="528" name="Google Shape;528;p17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29" name="Google Shape;529;p17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35" name="Google Shape;535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36" name="Google Shape;536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37" name="Google Shape;537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" name="Google Shape;538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https://url-shortener.me/EV0X</a:t>
            </a:r>
            <a:endParaRPr/>
          </a:p>
        </p:txBody>
      </p:sp>
      <p:pic>
        <p:nvPicPr>
          <p:cNvPr id="539" name="Google Shape;5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8215" y="1268244"/>
            <a:ext cx="8675570" cy="50666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45" name="Google Shape;545;p1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46" name="Google Shape;546;p126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2/27/2026</a:t>
            </a:r>
            <a:endParaRPr/>
          </a:p>
        </p:txBody>
      </p:sp>
      <p:sp>
        <p:nvSpPr>
          <p:cNvPr id="547" name="Google Shape;547;p126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48" name="Google Shape;548;p126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