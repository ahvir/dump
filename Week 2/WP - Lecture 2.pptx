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443" r:id="rId3"/>
    <p:sldId id="446" r:id="rId4"/>
    <p:sldId id="447" r:id="rId5"/>
    <p:sldId id="448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8" r:id="rId14"/>
    <p:sldId id="457" r:id="rId15"/>
    <p:sldId id="460" r:id="rId16"/>
    <p:sldId id="461" r:id="rId17"/>
    <p:sldId id="295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Tahoma" panose="020B0604030504040204" pitchFamily="3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7" roundtripDataSignature="AMtx7mhIKndVmLnjexb5RTPnWIOFJTu/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C2C62A-F4B9-43E1-81B7-09FC8E7DB2A1}">
  <a:tblStyle styleId="{05C2C62A-F4B9-43E1-81B7-09FC8E7DB2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59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8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9077416-DEDE-4F8A-922A-FC5639FD64BC}" type="datetime1">
              <a:rPr lang="en-US" smtClean="0"/>
              <a:t>3/6/2026</a:t>
            </a:fld>
            <a:endParaRPr/>
          </a:p>
        </p:txBody>
      </p:sp>
      <p:sp>
        <p:nvSpPr>
          <p:cNvPr id="19" name="Google Shape;19;p128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20" name="Google Shape;20;p128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12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12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12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69F58A1-D249-4395-9FA9-0FD97FEDBD1B}" type="datetime1">
              <a:rPr lang="en-US" smtClean="0"/>
              <a:t>3/6/2026</a:t>
            </a:fld>
            <a:endParaRPr/>
          </a:p>
        </p:txBody>
      </p:sp>
      <p:sp>
        <p:nvSpPr>
          <p:cNvPr id="27" name="Google Shape;27;p1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28" name="Google Shape;28;p1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" name="Google Shape;30;p12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12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12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1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1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82E962A-2F34-412A-8CA2-C6667C725120}" type="datetime1">
              <a:rPr lang="en-US" smtClean="0"/>
              <a:t>3/6/2026</a:t>
            </a:fld>
            <a:endParaRPr/>
          </a:p>
        </p:txBody>
      </p:sp>
      <p:sp>
        <p:nvSpPr>
          <p:cNvPr id="46" name="Google Shape;46;p1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47" name="Google Shape;47;p1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1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13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13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13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3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3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13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marL="914400" marR="0" lvl="1" indent="-344169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marL="1371600" marR="0" lvl="2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marL="1828800" marR="0" lvl="3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marL="2286000" marR="0" lvl="4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3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783BFBA-784A-4D68-8874-C9E5CD28F296}" type="datetime1">
              <a:rPr lang="en-US" smtClean="0"/>
              <a:t>3/6/2026</a:t>
            </a:fld>
            <a:endParaRPr/>
          </a:p>
        </p:txBody>
      </p:sp>
      <p:sp>
        <p:nvSpPr>
          <p:cNvPr id="58" name="Google Shape;58;p1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59" name="Google Shape;59;p1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13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13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13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B2AD37E-8273-4992-B490-50654A2D3E4D}" type="datetime1">
              <a:rPr lang="en-US" smtClean="0"/>
              <a:t>3/6/2026</a:t>
            </a:fld>
            <a:endParaRPr/>
          </a:p>
        </p:txBody>
      </p:sp>
      <p:sp>
        <p:nvSpPr>
          <p:cNvPr id="67" name="Google Shape;67;p1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68" name="Google Shape;68;p1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F01607A-DCD6-44B0-B29B-87BD41432627}" type="datetime1">
              <a:rPr lang="en-US" smtClean="0"/>
              <a:t>3/6/2026</a:t>
            </a:fld>
            <a:endParaRPr/>
          </a:p>
        </p:txBody>
      </p:sp>
      <p:sp>
        <p:nvSpPr>
          <p:cNvPr id="71" name="Google Shape;71;p1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72" name="Google Shape;72;p1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1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5A94DB0-AECA-46B5-AA2B-BF71CDDDAC04}" type="datetime1">
              <a:rPr lang="en-US" smtClean="0"/>
              <a:t>3/6/2026</a:t>
            </a:fld>
            <a:endParaRPr/>
          </a:p>
        </p:txBody>
      </p:sp>
      <p:sp>
        <p:nvSpPr>
          <p:cNvPr id="78" name="Google Shape;78;p1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79" name="Google Shape;79;p1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6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1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221445A-805D-4F48-8A5E-5518B3EC2300}" type="datetime1">
              <a:rPr lang="en-US" smtClean="0"/>
              <a:t>3/6/2026</a:t>
            </a:fld>
            <a:endParaRPr/>
          </a:p>
        </p:txBody>
      </p:sp>
      <p:sp>
        <p:nvSpPr>
          <p:cNvPr id="85" name="Google Shape;85;p1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86" name="Google Shape;86;p1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EC764CE-CE8F-42BF-90BC-6FF5F7F7A23C}" type="datetime1">
              <a:rPr lang="en-US" smtClean="0"/>
              <a:t>3/6/2026</a:t>
            </a:fld>
            <a:endParaRPr/>
          </a:p>
        </p:txBody>
      </p:sp>
      <p:sp>
        <p:nvSpPr>
          <p:cNvPr id="91" name="Google Shape;91;p1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92" name="Google Shape;92;p1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B1124B9-4980-4B4A-955C-89F63FED21FE}" type="datetime1">
              <a:rPr lang="en-US" smtClean="0"/>
              <a:t>3/6/2026</a:t>
            </a:fld>
            <a:endParaRPr/>
          </a:p>
        </p:txBody>
      </p:sp>
      <p:sp>
        <p:nvSpPr>
          <p:cNvPr id="97" name="Google Shape;97;p1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98" name="Google Shape;98;p1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F5F89D5-21A2-4BF2-A0B2-6A932F5AEE89}" type="datetime1">
              <a:rPr lang="en-US" smtClean="0"/>
              <a:t>3/6/2026</a:t>
            </a:fld>
            <a:endParaRPr/>
          </a:p>
        </p:txBody>
      </p:sp>
      <p:sp>
        <p:nvSpPr>
          <p:cNvPr id="13" name="Google Shape;13;p1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Lec Md Shadman Aadeeb, Dept of CSE, UIU</a:t>
            </a:r>
            <a:endParaRPr/>
          </a:p>
        </p:txBody>
      </p:sp>
      <p:sp>
        <p:nvSpPr>
          <p:cNvPr id="14" name="Google Shape;14;p1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 dirty="0"/>
              <a:t>CSE 4165: Web Programming</a:t>
            </a:r>
            <a:endParaRPr dirty="0"/>
          </a:p>
        </p:txBody>
      </p:sp>
      <p:sp>
        <p:nvSpPr>
          <p:cNvPr id="104" name="Google Shape;104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 sz="2800" b="1" dirty="0"/>
              <a:t>Lecture 2</a:t>
            </a:r>
            <a:endParaRPr sz="2800" b="1" dirty="0"/>
          </a:p>
        </p:txBody>
      </p:sp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551F0B93-30E7-437B-A0DF-FA14E0F72754}" type="datetime1">
              <a:rPr lang="en-US" smtClean="0"/>
              <a:t>3/6/2026</a:t>
            </a:fld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3E8247-DFB2-4B0A-AC00-0CED32507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210" y="1178696"/>
            <a:ext cx="11466095" cy="4949054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We have already covered the basic page structure in lecture 1.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Let’s explore the contents in the head tag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CD87B-9327-4E02-98F6-A3C704341A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67906B-6614-4878-81DD-92A0ECB0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Basic Page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8BDD0F-688E-433F-B2DB-93F375E8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1" y="2684671"/>
            <a:ext cx="5732305" cy="36256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B121A-78AE-41A2-AB92-CBEFC2365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890" y="2684671"/>
            <a:ext cx="5388515" cy="36256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743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CD87B-9327-4E02-98F6-A3C704341A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67906B-6614-4878-81DD-92A0ECB0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Basic Page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8BDD0F-688E-433F-B2DB-93F375E8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1" y="1913641"/>
            <a:ext cx="6504817" cy="41949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B121A-78AE-41A2-AB92-CBEFC2365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016" y="1913642"/>
            <a:ext cx="4311977" cy="41949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0B3506-8DB6-4E22-BBEB-485B9B367938}"/>
              </a:ext>
            </a:extLst>
          </p:cNvPr>
          <p:cNvSpPr/>
          <p:nvPr/>
        </p:nvSpPr>
        <p:spPr>
          <a:xfrm>
            <a:off x="1093509" y="2205872"/>
            <a:ext cx="1272619" cy="443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27102B-0F5C-407F-AFB9-95822467DE78}"/>
              </a:ext>
            </a:extLst>
          </p:cNvPr>
          <p:cNvSpPr/>
          <p:nvPr/>
        </p:nvSpPr>
        <p:spPr>
          <a:xfrm>
            <a:off x="2480349" y="2518292"/>
            <a:ext cx="1272619" cy="4430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CD87B-9327-4E02-98F6-A3C704341A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67906B-6614-4878-81DD-92A0ECB0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Basic Page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8BDD0F-688E-433F-B2DB-93F375E8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1" y="1913641"/>
            <a:ext cx="6504817" cy="41949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B121A-78AE-41A2-AB92-CBEFC2365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016" y="1913642"/>
            <a:ext cx="4311977" cy="41949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0B3506-8DB6-4E22-BBEB-485B9B367938}"/>
              </a:ext>
            </a:extLst>
          </p:cNvPr>
          <p:cNvSpPr/>
          <p:nvPr/>
        </p:nvSpPr>
        <p:spPr>
          <a:xfrm>
            <a:off x="838200" y="3318235"/>
            <a:ext cx="5930245" cy="377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27102B-0F5C-407F-AFB9-95822467DE78}"/>
              </a:ext>
            </a:extLst>
          </p:cNvPr>
          <p:cNvSpPr/>
          <p:nvPr/>
        </p:nvSpPr>
        <p:spPr>
          <a:xfrm>
            <a:off x="838200" y="2941163"/>
            <a:ext cx="2932522" cy="377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9C4EFF-DC3C-484F-A69C-918004160DCC}"/>
              </a:ext>
            </a:extLst>
          </p:cNvPr>
          <p:cNvSpPr/>
          <p:nvPr/>
        </p:nvSpPr>
        <p:spPr>
          <a:xfrm>
            <a:off x="7343016" y="1913641"/>
            <a:ext cx="2932522" cy="377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90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CD87B-9327-4E02-98F6-A3C704341A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67906B-6614-4878-81DD-92A0ECB0A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Basic Page Structure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8BDD0F-688E-433F-B2DB-93F375E8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1" y="1913641"/>
            <a:ext cx="6504817" cy="41949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EB121A-78AE-41A2-AB92-CBEFC2365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016" y="1913642"/>
            <a:ext cx="4311977" cy="41949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0B3506-8DB6-4E22-BBEB-485B9B367938}"/>
              </a:ext>
            </a:extLst>
          </p:cNvPr>
          <p:cNvSpPr/>
          <p:nvPr/>
        </p:nvSpPr>
        <p:spPr>
          <a:xfrm>
            <a:off x="838200" y="3634031"/>
            <a:ext cx="4638773" cy="1022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40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011D2E-F18B-4C79-A8CB-9831BA3B9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style </a:t>
            </a:r>
            <a:r>
              <a:rPr lang="en-US" b="1" dirty="0"/>
              <a:t>attribute</a:t>
            </a:r>
            <a:r>
              <a:rPr lang="en-US" dirty="0"/>
              <a:t> used here with the h1 </a:t>
            </a:r>
            <a:r>
              <a:rPr lang="en-US" b="1" dirty="0"/>
              <a:t>tag.</a:t>
            </a:r>
          </a:p>
          <a:p>
            <a:r>
              <a:rPr lang="en-US" dirty="0"/>
              <a:t>It provides easy way to integrate CSS code.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ADD5B-C589-4D22-8CC7-19FD360DD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3F65B9-351D-44F8-B958-C18D6E467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2. How big can a heading be (not header/head)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02DA6-A24C-46B3-9536-AEF1531E0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29778"/>
            <a:ext cx="5610978" cy="1914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02C8DC-DED3-468E-B348-05E821AF0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498" y="2543991"/>
            <a:ext cx="4791075" cy="3086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8D7084E-C485-4669-91AC-E9A077467EE9}"/>
              </a:ext>
            </a:extLst>
          </p:cNvPr>
          <p:cNvSpPr/>
          <p:nvPr/>
        </p:nvSpPr>
        <p:spPr>
          <a:xfrm>
            <a:off x="2041044" y="5804068"/>
            <a:ext cx="810991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kind of tag </a:t>
            </a: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are the heading tags?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0099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E48D35-AF76-44C9-8844-97DB3BA47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Core points you should remember about block tags:</a:t>
            </a:r>
          </a:p>
          <a:p>
            <a:pPr marL="742950" indent="-514350">
              <a:buAutoNum type="arabicPeriod"/>
            </a:pPr>
            <a:r>
              <a:rPr lang="en-US" dirty="0"/>
              <a:t>Newlines are present before and after a block tag.</a:t>
            </a:r>
          </a:p>
          <a:p>
            <a:pPr marL="742950" indent="-514350">
              <a:buAutoNum type="arabicPeriod"/>
            </a:pPr>
            <a:r>
              <a:rPr lang="en-US" dirty="0"/>
              <a:t>Block elements stretch full width of the parent (exception table)</a:t>
            </a:r>
          </a:p>
          <a:p>
            <a:pPr marL="742950" indent="-514350">
              <a:buAutoNum type="arabicPeriod"/>
            </a:pPr>
            <a:r>
              <a:rPr lang="en-US" dirty="0"/>
              <a:t>Width and heigh of block elements can be set</a:t>
            </a:r>
          </a:p>
          <a:p>
            <a:pPr marL="1200150" lvl="1" indent="-514350"/>
            <a:r>
              <a:rPr lang="en-US" dirty="0"/>
              <a:t>width, height</a:t>
            </a:r>
          </a:p>
          <a:p>
            <a:pPr marL="1200150" lvl="1" indent="-514350"/>
            <a:r>
              <a:rPr lang="en-US" dirty="0"/>
              <a:t>%, px</a:t>
            </a:r>
          </a:p>
          <a:p>
            <a:pPr marL="742950" indent="-514350">
              <a:lnSpc>
                <a:spcPct val="110000"/>
              </a:lnSpc>
              <a:buFont typeface="Noto Sans Symbols"/>
              <a:buAutoNum type="arabicPeriod"/>
            </a:pPr>
            <a:r>
              <a:rPr lang="en-US" dirty="0"/>
              <a:t>Padding can be set from all sides </a:t>
            </a:r>
          </a:p>
          <a:p>
            <a:pPr marL="742950" indent="-514350">
              <a:lnSpc>
                <a:spcPct val="110000"/>
              </a:lnSpc>
              <a:buFont typeface="Noto Sans Symbols"/>
              <a:buAutoNum type="arabicPeriod"/>
            </a:pPr>
            <a:r>
              <a:rPr lang="en-US" dirty="0"/>
              <a:t>Margin can be set from all sides</a:t>
            </a:r>
          </a:p>
          <a:p>
            <a:pPr marL="742950" indent="-514350">
              <a:lnSpc>
                <a:spcPct val="110000"/>
              </a:lnSpc>
              <a:buFont typeface="Noto Sans Symbols"/>
              <a:buAutoNum type="arabicPeriod"/>
            </a:pPr>
            <a:endParaRPr lang="en-US" dirty="0"/>
          </a:p>
          <a:p>
            <a:pPr marL="742950" indent="-514350"/>
            <a:endParaRPr lang="en-US" dirty="0"/>
          </a:p>
          <a:p>
            <a:pPr marL="742950" indent="-514350"/>
            <a:endParaRPr lang="en-US" dirty="0"/>
          </a:p>
          <a:p>
            <a:pPr marL="742950" indent="-514350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B45E70-F93E-48AE-9B2E-E920A5E6A5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DA790D-5F16-4887-953C-3CF027E7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 bit about some of the block tags</a:t>
            </a:r>
          </a:p>
        </p:txBody>
      </p:sp>
    </p:spTree>
    <p:extLst>
      <p:ext uri="{BB962C8B-B14F-4D97-AF65-F5344CB8AC3E}">
        <p14:creationId xmlns:p14="http://schemas.microsoft.com/office/powerpoint/2010/main" val="2625962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53F2E9-5832-4D43-B1FB-58639C9AF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Inline elements DO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left &amp; right margin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left &amp; right padding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text-related CSS </a:t>
            </a:r>
          </a:p>
          <a:p>
            <a:pPr marL="228600" indent="0"/>
            <a:r>
              <a:rPr lang="en-US" b="1" dirty="0"/>
              <a:t>Inline elements DO NOT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width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&amp; bottom margin (no effect on layout)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&amp; bottom padding (visible but does NOT push elements away)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72ACF-0EE5-45BA-9DE8-69AC003A9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C12F43-7164-4008-87DC-E39A7512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Inline Elements</a:t>
            </a:r>
          </a:p>
        </p:txBody>
      </p:sp>
    </p:spTree>
    <p:extLst>
      <p:ext uri="{BB962C8B-B14F-4D97-AF65-F5344CB8AC3E}">
        <p14:creationId xmlns:p14="http://schemas.microsoft.com/office/powerpoint/2010/main" val="1602466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53F2E9-5832-4D43-B1FB-58639C9AF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Inline elements DO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left &amp; right margin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left &amp; right padding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text-related CSS</a:t>
            </a:r>
          </a:p>
          <a:p>
            <a:r>
              <a:rPr lang="en-US" b="1" dirty="0"/>
              <a:t>Inline elements DO NOT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width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&amp; bottom margin (no effect on layout)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top &amp; bottom padding (visible but does NOT push elements away)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72ACF-0EE5-45BA-9DE8-69AC003A9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C12F43-7164-4008-87DC-E39A7512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Inline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78A0E-99DD-4FFE-BE88-E390D01A0892}"/>
              </a:ext>
            </a:extLst>
          </p:cNvPr>
          <p:cNvSpPr txBox="1"/>
          <p:nvPr/>
        </p:nvSpPr>
        <p:spPr>
          <a:xfrm>
            <a:off x="6944810" y="1469985"/>
            <a:ext cx="4560425" cy="2923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Note that both the types of tags support:</a:t>
            </a:r>
          </a:p>
          <a:p>
            <a:endParaRPr lang="en-US" b="1" dirty="0"/>
          </a:p>
          <a:p>
            <a:r>
              <a:rPr lang="en-US" sz="2000" b="1" dirty="0"/>
              <a:t>color – text color</a:t>
            </a:r>
          </a:p>
          <a:p>
            <a:r>
              <a:rPr lang="en-US" sz="2000" b="1" dirty="0"/>
              <a:t>background-color – self explanatory</a:t>
            </a:r>
          </a:p>
          <a:p>
            <a:r>
              <a:rPr lang="en-US" sz="2000" b="1" dirty="0"/>
              <a:t>font-size – size of textual content</a:t>
            </a:r>
          </a:p>
          <a:p>
            <a:r>
              <a:rPr lang="en-US" sz="2000" b="1" dirty="0"/>
              <a:t>text-align – center, left, right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095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E48D35-AF76-44C9-8844-97DB3BA47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42950" indent="-514350">
              <a:lnSpc>
                <a:spcPct val="110000"/>
              </a:lnSpc>
              <a:buFont typeface="Noto Sans Symbols"/>
              <a:buAutoNum type="arabicPeriod"/>
            </a:pPr>
            <a:endParaRPr lang="en-US" dirty="0"/>
          </a:p>
          <a:p>
            <a:pPr marL="742950" indent="-514350"/>
            <a:endParaRPr lang="en-US" dirty="0"/>
          </a:p>
          <a:p>
            <a:pPr marL="742950" indent="-514350"/>
            <a:endParaRPr lang="en-US" dirty="0"/>
          </a:p>
          <a:p>
            <a:pPr marL="742950" indent="-514350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B45E70-F93E-48AE-9B2E-E920A5E6A5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DA790D-5F16-4887-953C-3CF027E7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Let us apply CSS on some block elements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7A5636-4E6F-41DA-96B1-AC044E17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1758533"/>
            <a:ext cx="6327869" cy="38878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119BE4-01E5-4675-9A73-1B2A6B214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0" y="2301240"/>
            <a:ext cx="4952999" cy="25720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8162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41FD17-CE3B-450E-9747-4C4960AD5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Use the tags and attributes you learned so far.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Do you think the aqua colored span (span 1) has a width and height?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C9EA37-E33B-47B1-9BD7-1E89F35704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3C5869-A6A8-4624-BAF9-5FD5ACD19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A small exercise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D21E8-A695-41CA-A5B8-C855BA097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919" y="3055934"/>
            <a:ext cx="7894162" cy="32789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49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6F05C9-F962-4818-8E89-19C190FED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BLOCK ELEMENTS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Can contain inline elements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Most can contain block elements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Some (like &lt;p&gt; and &lt;h1&gt;) can contain only inline</a:t>
            </a:r>
          </a:p>
          <a:p>
            <a:pPr marL="228600" indent="0"/>
            <a:r>
              <a:rPr lang="en-US" dirty="0"/>
              <a:t>INLINE ELEMENTS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Can contain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Can contain inline elements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b="1" dirty="0"/>
              <a:t>Cannot contain block elements (try placing a div in a span)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B0191D-59A6-42C8-A4E3-049C024ACA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7FDD8D-0708-41BC-AA1F-1FD380921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Remember</a:t>
            </a:r>
          </a:p>
        </p:txBody>
      </p:sp>
    </p:spTree>
    <p:extLst>
      <p:ext uri="{BB962C8B-B14F-4D97-AF65-F5344CB8AC3E}">
        <p14:creationId xmlns:p14="http://schemas.microsoft.com/office/powerpoint/2010/main" val="1440670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D97721-EDB7-4216-B97D-767308311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7522"/>
            <a:ext cx="10515600" cy="5149441"/>
          </a:xfrm>
        </p:spPr>
        <p:txBody>
          <a:bodyPr/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Which if the above 4 are inline/block?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/>
              <a:t>Do it now before seeing the answer in the next page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62382-55E8-41C9-88B9-1AFE3E0FC5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09F10B-1BAC-4BBD-BD87-E49A5124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Four more tags &lt;</a:t>
            </a:r>
            <a:r>
              <a:rPr lang="en-US" dirty="0" err="1"/>
              <a:t>img</a:t>
            </a:r>
            <a:r>
              <a:rPr lang="en-US" dirty="0"/>
              <a:t>&gt;, &lt;a&gt;, &lt;</a:t>
            </a:r>
            <a:r>
              <a:rPr lang="en-US" dirty="0" err="1"/>
              <a:t>hr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4C6D34-19C1-41F3-8E4C-DF89F832F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09" y="2562953"/>
            <a:ext cx="3736381" cy="37719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5246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662382-55E8-41C9-88B9-1AFE3E0FC5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09F10B-1BAC-4BBD-BD87-E49A5124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Four more tags &lt;</a:t>
            </a:r>
            <a:r>
              <a:rPr lang="en-US" dirty="0" err="1"/>
              <a:t>img</a:t>
            </a:r>
            <a:r>
              <a:rPr lang="en-US" dirty="0"/>
              <a:t>&gt;, &lt;a&gt;, &lt;</a:t>
            </a:r>
            <a:r>
              <a:rPr lang="en-US" dirty="0" err="1"/>
              <a:t>hr</a:t>
            </a:r>
            <a:r>
              <a:rPr lang="en-US" dirty="0"/>
              <a:t>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5C2BA-1D0A-485E-8B7E-98DE9DDA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93" y="1634700"/>
            <a:ext cx="7909312" cy="4246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4C6D34-19C1-41F3-8E4C-DF89F832F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026" y="1871952"/>
            <a:ext cx="3736381" cy="37719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9272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5D7AD9-0AD6-4873-B5E6-C35B03015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 dirty="0"/>
              <a:t>Let’s explore its properties a bit more!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C527E-B108-45D7-BFDA-4CBB1D688B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4FFA2D-5189-481C-B8CD-3C0C92CB4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Is table a block tag or inline tag?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5DF47C-EE9B-43B9-BD46-C7530C3CD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51" y="2468365"/>
            <a:ext cx="8779497" cy="402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730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9536A3-019B-41B7-B5DF-AF06894A1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&lt;b&gt; </a:t>
            </a:r>
            <a:r>
              <a:rPr lang="en-US" dirty="0"/>
              <a:t>- Bold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&lt;strong&gt; </a:t>
            </a:r>
            <a:r>
              <a:rPr lang="en-US" dirty="0"/>
              <a:t>- Important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r>
              <a:rPr lang="en-US" dirty="0"/>
              <a:t> - Italic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em</a:t>
            </a: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/>
              <a:t>- Emphasized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&lt;mark&gt; </a:t>
            </a:r>
            <a:r>
              <a:rPr lang="en-US" dirty="0"/>
              <a:t>- Marked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&lt;small&gt; </a:t>
            </a:r>
            <a:r>
              <a:rPr lang="en-US" dirty="0"/>
              <a:t>- Smaller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&lt;del&gt;</a:t>
            </a:r>
            <a:r>
              <a:rPr lang="en-US" dirty="0"/>
              <a:t> - Deleted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&lt;ins&gt;</a:t>
            </a:r>
            <a:r>
              <a:rPr lang="en-US" dirty="0"/>
              <a:t> - Inserted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&lt;sub&gt; </a:t>
            </a:r>
            <a:r>
              <a:rPr lang="en-US" dirty="0"/>
              <a:t>- Subscript text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&lt;sup&gt;</a:t>
            </a:r>
            <a:r>
              <a:rPr lang="en-US" dirty="0"/>
              <a:t> - Superscript 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721918-D1DC-44E1-A441-2A418E0EEF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5496D7-BCF3-4524-90E3-8E4505AB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Formatting </a:t>
            </a:r>
            <a:r>
              <a:rPr lang="en-US" dirty="0"/>
              <a:t>Tags (test each with texts)</a:t>
            </a:r>
          </a:p>
        </p:txBody>
      </p:sp>
    </p:spTree>
    <p:extLst>
      <p:ext uri="{BB962C8B-B14F-4D97-AF65-F5344CB8AC3E}">
        <p14:creationId xmlns:p14="http://schemas.microsoft.com/office/powerpoint/2010/main" val="4120752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431" name="Google Shape;431;p12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432" name="Google Shape;432;p126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744D903C-90C6-4310-98FD-F8A446DC58A4}" type="datetime1">
              <a:rPr lang="en-US" smtClean="0"/>
              <a:t>3/6/2026</a:t>
            </a:fld>
            <a:endParaRPr/>
          </a:p>
        </p:txBody>
      </p:sp>
      <p:sp>
        <p:nvSpPr>
          <p:cNvPr id="433" name="Google Shape;433;p126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34" name="Google Shape;434;p126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565</Words>
  <Application>Microsoft Office PowerPoint</Application>
  <PresentationFormat>Widescreen</PresentationFormat>
  <Paragraphs>106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Tahoma</vt:lpstr>
      <vt:lpstr>Times New Roman</vt:lpstr>
      <vt:lpstr>Calibri</vt:lpstr>
      <vt:lpstr>Noto Sans Symbols</vt:lpstr>
      <vt:lpstr>Office Theme</vt:lpstr>
      <vt:lpstr>CSE 4165: Web Programming</vt:lpstr>
      <vt:lpstr>1. Basic Page Structure</vt:lpstr>
      <vt:lpstr>1. Basic Page Structure</vt:lpstr>
      <vt:lpstr>1. Basic Page Structure</vt:lpstr>
      <vt:lpstr>1. Basic Page Structure</vt:lpstr>
      <vt:lpstr>2. How big can a heading be (not header/head)</vt:lpstr>
      <vt:lpstr>3. A bit about some of the block tags</vt:lpstr>
      <vt:lpstr>3. Inline Elements</vt:lpstr>
      <vt:lpstr>3. Inline Elements</vt:lpstr>
      <vt:lpstr>4. Let us apply CSS on some block elements </vt:lpstr>
      <vt:lpstr>5. A small exercise</vt:lpstr>
      <vt:lpstr>6. Remember</vt:lpstr>
      <vt:lpstr>7. Four more tags &lt;img&gt;, &lt;a&gt;, &lt;hr&gt;&lt;br&gt;</vt:lpstr>
      <vt:lpstr>7. Four more tags &lt;img&gt;, &lt;a&gt;, &lt;hr&gt;&lt;br&gt;</vt:lpstr>
      <vt:lpstr>8. Is table a block tag or inline tag?</vt:lpstr>
      <vt:lpstr>8. Formatting Tags (test each with texts)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4165: Web Programming</dc:title>
  <dc:creator>lenovo</dc:creator>
  <cp:lastModifiedBy>aadeeb18962@outlook.com</cp:lastModifiedBy>
  <cp:revision>15</cp:revision>
  <dcterms:created xsi:type="dcterms:W3CDTF">2023-03-19T03:25:32Z</dcterms:created>
  <dcterms:modified xsi:type="dcterms:W3CDTF">2026-03-06T17:21:17Z</dcterms:modified>
</cp:coreProperties>
</file>